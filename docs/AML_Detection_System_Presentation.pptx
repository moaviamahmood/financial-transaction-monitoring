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6" r:id="rId4"/>
    <p:sldId id="261" r:id="rId5"/>
    <p:sldId id="262" r:id="rId6"/>
    <p:sldId id="287" r:id="rId7"/>
    <p:sldId id="263" r:id="rId8"/>
    <p:sldId id="264" r:id="rId9"/>
    <p:sldId id="265" r:id="rId10"/>
    <p:sldId id="266" r:id="rId11"/>
    <p:sldId id="267" r:id="rId12"/>
    <p:sldId id="268" r:id="rId13"/>
    <p:sldId id="285" r:id="rId14"/>
    <p:sldId id="279" r:id="rId15"/>
    <p:sldId id="281" r:id="rId16"/>
    <p:sldId id="282" r:id="rId17"/>
    <p:sldId id="283" r:id="rId18"/>
    <p:sldId id="270" r:id="rId19"/>
    <p:sldId id="288" r:id="rId20"/>
    <p:sldId id="272" r:id="rId21"/>
    <p:sldId id="273" r:id="rId22"/>
    <p:sldId id="271" r:id="rId23"/>
    <p:sldId id="284" r:id="rId24"/>
    <p:sldId id="274" r:id="rId25"/>
    <p:sldId id="275" r:id="rId26"/>
    <p:sldId id="276" r:id="rId27"/>
    <p:sldId id="277" r:id="rId28"/>
    <p:sldId id="278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9453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3630F-C7A7-B6AF-60FC-8D581CB95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F89910-90AE-F29C-3344-10E8A6EDE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B4125C-8CDF-1187-C118-391CF717B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5243D-CFCD-2C3D-7E2E-3CE27EE89F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4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98AFE-8D8F-B7B2-C03E-E51C564C8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86E9A-256A-CCC9-04A0-283E4CE28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4FE05-0916-6010-BCC6-DE3BF8457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B637C-A37F-3EEF-96F5-B10CD9B6B1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45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967BB-7E0B-CA93-4B36-8B35F605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A89FD-54ED-BE63-60F2-95C7B7642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ED9ED2-C0F2-C9E7-0120-3A8CC304F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CC626-496D-F152-8A52-E4EFD46A0D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48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E13AF-9517-C1E3-7BCA-4FB6E9EB3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56EAA3-1282-6E03-DF95-AC4BA66C9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55425-EFBA-8D9E-FB2C-0954CAB97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9AA79-5EAA-C6FE-CADE-7AD80C718D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0951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6F07A-B24D-1B5C-4E28-81A9B154F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19B6C-B404-F16A-4EF6-655E1C14A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65088-8346-8837-211E-ACAC5FB45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ECED3-B976-3EE2-A161-56F095AB4F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668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1B784-E2FE-556D-D392-3ED7CFE3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56987-037E-484A-E4F6-589CBD30E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ACFB97-FAD6-5632-D0B3-C3A52EFF9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FFE20-4C66-6B21-3069-4D57976E08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218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E3653-21A0-E9D7-1888-6CA35D2D1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BBEDD-66E3-8B16-6434-8A73DC9A1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9EAF0-0AB2-7E6A-FDBD-ABD303F4F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5ADFA-7F0D-DA34-653D-4FAE158A67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3605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33FE0-2FFA-FF8A-4589-634E00DA3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32DB5-CF3B-B711-39DB-F6C6D7A58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5355B-16F7-3723-264B-6EE213DD3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849AF-E51C-FA1D-13AB-FF7F212B8D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149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2E93F-E40D-A7A5-D299-EA6D5D471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CFD83-17A9-9CE6-AC19-C9C7392AD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32632-F34F-9B80-A45D-9D5FBDFEA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EEFB0-4976-CB9A-A0D2-BDF8769E35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408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2.png"/><Relationship Id="rId10" Type="http://schemas.openxmlformats.org/officeDocument/2006/relationships/image" Target="../media/image11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C1E40"/>
          </a:solidFill>
          <a:ln w="12700">
            <a:solidFill>
              <a:srgbClr val="0C1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32004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SENTINEL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Detection 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65176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3209959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891B2"/>
                </a:solidFill>
              </a:rPr>
              <a:t>DEPARTMENT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74320" y="3392839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Software Engineering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643465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891B2"/>
                </a:solidFill>
              </a:rPr>
              <a:t>INSTITUTION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4320" y="2826345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OSTIM Technical University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373563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891B2"/>
                </a:solidFill>
              </a:rPr>
              <a:t>COURSE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4320" y="391851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MFBP 402 – Graduation Project II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5486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3474720" y="129844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Laundering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3474720" y="206654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System</a:t>
            </a:r>
            <a:endParaRPr lang="en-US" sz="5200" dirty="0"/>
          </a:p>
        </p:txBody>
      </p:sp>
      <p:sp>
        <p:nvSpPr>
          <p:cNvPr id="19" name="Shape 17"/>
          <p:cNvSpPr/>
          <p:nvPr/>
        </p:nvSpPr>
        <p:spPr>
          <a:xfrm>
            <a:off x="3474720" y="3017520"/>
            <a:ext cx="539496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0" y="3154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</a:rPr>
              <a:t>Moavia Mahmood   |   210208693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49300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Supervisor: Asst. Prof. Dr. Yücel Tekin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411480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164E63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0" y="4114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AWS · Serverless · Real-Time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ACF5A05-1CC7-FBA2-396A-A34BCEA40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9560" y="1487609"/>
            <a:ext cx="1101280" cy="1101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PRESENTATION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34536"/>
            <a:ext cx="8229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9961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0432" y="15270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34086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0432" y="23682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&amp; Objectives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54096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18211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32095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&amp; Comparative Analysis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895344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40233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70432" y="40507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149961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68112" y="15270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Detection Engine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2212848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234086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68112" y="23682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Technologies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3054096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318211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68112" y="32095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Evaluation &amp; Performance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54880" y="3895344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40233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68112" y="40507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Conclusion &amp; Future Work</a:t>
            </a:r>
            <a:endParaRPr lang="en-US" sz="12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70DFBF0-C01C-634A-10A0-35DE495DE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977" y="4709160"/>
            <a:ext cx="942186" cy="3264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771DAD-13E4-40F4-F8B9-8C5412AC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4F69B0-B2EF-7AD5-07FE-0D83D608AC8E}"/>
              </a:ext>
            </a:extLst>
          </p:cNvPr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0687E8-1ABF-7882-928A-64707E0D9C5A}"/>
              </a:ext>
            </a:extLst>
          </p:cNvPr>
          <p:cNvSpPr/>
          <p:nvPr/>
        </p:nvSpPr>
        <p:spPr>
          <a:xfrm>
            <a:off x="457200" y="469055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E32D1EE-24EC-C715-F390-F9778946658C}"/>
              </a:ext>
            </a:extLst>
          </p:cNvPr>
          <p:cNvSpPr/>
          <p:nvPr/>
        </p:nvSpPr>
        <p:spPr>
          <a:xfrm flipV="1">
            <a:off x="457198" y="1108965"/>
            <a:ext cx="8321041" cy="45719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79D9F26-0821-4A67-2654-1EE594439E11}"/>
              </a:ext>
            </a:extLst>
          </p:cNvPr>
          <p:cNvSpPr/>
          <p:nvPr/>
        </p:nvSpPr>
        <p:spPr>
          <a:xfrm>
            <a:off x="457200" y="1371599"/>
            <a:ext cx="8229600" cy="1886373"/>
          </a:xfrm>
          <a:prstGeom prst="roundRect">
            <a:avLst>
              <a:gd name="adj" fmla="val 8000"/>
            </a:avLst>
          </a:prstGeom>
          <a:solidFill>
            <a:srgbClr val="0D1F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E713CDF-6C7E-88D7-EA76-1A26F3D3776D}"/>
              </a:ext>
            </a:extLst>
          </p:cNvPr>
          <p:cNvSpPr/>
          <p:nvPr/>
        </p:nvSpPr>
        <p:spPr>
          <a:xfrm>
            <a:off x="640080" y="1558203"/>
            <a:ext cx="7809260" cy="349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</a:rPr>
              <a:t>The Global AML Challenge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E198219-ECAD-B3EA-D7F2-51550045F21C}"/>
              </a:ext>
            </a:extLst>
          </p:cNvPr>
          <p:cNvSpPr/>
          <p:nvPr/>
        </p:nvSpPr>
        <p:spPr>
          <a:xfrm>
            <a:off x="640080" y="1820667"/>
            <a:ext cx="7809260" cy="131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</a:rPr>
              <a:t>Money laundering integrates illicit funds into the legitimate financial system.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</a:rPr>
              <a:t>It’s threat to global economic stability.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</a:rPr>
              <a:t>Estimated at 2 – 5% of global GDP annually according to United Nations Office on Drugs and Crime (UNODC).</a:t>
            </a:r>
            <a:endParaRPr lang="en-US" sz="1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277A8C5-8383-F96E-9565-9E3A3A27C0E3}"/>
              </a:ext>
            </a:extLst>
          </p:cNvPr>
          <p:cNvGrpSpPr/>
          <p:nvPr/>
        </p:nvGrpSpPr>
        <p:grpSpPr>
          <a:xfrm>
            <a:off x="1449567" y="3454738"/>
            <a:ext cx="2348654" cy="1280160"/>
            <a:chOff x="457200" y="2487168"/>
            <a:chExt cx="2560320" cy="1280160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EFA026B1-0532-2998-E387-ADA40984F65B}"/>
                </a:ext>
              </a:extLst>
            </p:cNvPr>
            <p:cNvSpPr/>
            <p:nvPr/>
          </p:nvSpPr>
          <p:spPr>
            <a:xfrm>
              <a:off x="457200" y="2487168"/>
              <a:ext cx="2560320" cy="1280160"/>
            </a:xfrm>
            <a:prstGeom prst="roundRect">
              <a:avLst>
                <a:gd name="adj" fmla="val 5714"/>
              </a:avLst>
            </a:prstGeom>
            <a:solidFill>
              <a:srgbClr val="112240"/>
            </a:solidFill>
            <a:ln w="12700">
              <a:solidFill>
                <a:srgbClr val="1E3A5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C0ADA91A-3871-FDD3-2DCF-85DAB2676728}"/>
                </a:ext>
              </a:extLst>
            </p:cNvPr>
            <p:cNvSpPr/>
            <p:nvPr/>
          </p:nvSpPr>
          <p:spPr>
            <a:xfrm>
              <a:off x="457200" y="2487168"/>
              <a:ext cx="2560320" cy="164592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D2532B73-159A-42B8-CD77-B0B92BF2907A}"/>
                </a:ext>
              </a:extLst>
            </p:cNvPr>
            <p:cNvSpPr/>
            <p:nvPr/>
          </p:nvSpPr>
          <p:spPr>
            <a:xfrm>
              <a:off x="457200" y="2715768"/>
              <a:ext cx="25603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2–5%</a:t>
              </a:r>
              <a:endParaRPr lang="en-US" sz="34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F74416A1-0E81-3CD5-C1E9-3564F78DA9F8}"/>
                </a:ext>
              </a:extLst>
            </p:cNvPr>
            <p:cNvSpPr/>
            <p:nvPr/>
          </p:nvSpPr>
          <p:spPr>
            <a:xfrm>
              <a:off x="457200" y="3355848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of Global GDP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laundered annually</a:t>
              </a:r>
              <a:endParaRPr lang="en-US" sz="10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8158CCB-31D9-8121-5978-7F119D261849}"/>
              </a:ext>
            </a:extLst>
          </p:cNvPr>
          <p:cNvGrpSpPr/>
          <p:nvPr/>
        </p:nvGrpSpPr>
        <p:grpSpPr>
          <a:xfrm>
            <a:off x="5503492" y="3454738"/>
            <a:ext cx="2302934" cy="1280160"/>
            <a:chOff x="3154680" y="2487168"/>
            <a:chExt cx="2560320" cy="1280160"/>
          </a:xfrm>
        </p:grpSpPr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43F705CA-76E0-4B13-ACAF-454CF6701C8B}"/>
                </a:ext>
              </a:extLst>
            </p:cNvPr>
            <p:cNvSpPr/>
            <p:nvPr/>
          </p:nvSpPr>
          <p:spPr>
            <a:xfrm>
              <a:off x="3154680" y="2487168"/>
              <a:ext cx="2560320" cy="1280160"/>
            </a:xfrm>
            <a:prstGeom prst="roundRect">
              <a:avLst>
                <a:gd name="adj" fmla="val 5714"/>
              </a:avLst>
            </a:prstGeom>
            <a:solidFill>
              <a:srgbClr val="112240"/>
            </a:solidFill>
            <a:ln w="12700">
              <a:solidFill>
                <a:srgbClr val="1E3A5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93AADBE6-DD06-BC63-CC18-D5C72E23AA66}"/>
                </a:ext>
              </a:extLst>
            </p:cNvPr>
            <p:cNvSpPr/>
            <p:nvPr/>
          </p:nvSpPr>
          <p:spPr>
            <a:xfrm>
              <a:off x="3154680" y="2487168"/>
              <a:ext cx="2560320" cy="164592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ECB58937-9AFF-5FDF-F063-186ADB436AB4}"/>
                </a:ext>
              </a:extLst>
            </p:cNvPr>
            <p:cNvSpPr/>
            <p:nvPr/>
          </p:nvSpPr>
          <p:spPr>
            <a:xfrm>
              <a:off x="3154680" y="2715768"/>
              <a:ext cx="25603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&gt;90%</a:t>
              </a:r>
              <a:endParaRPr lang="en-US" sz="340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137212EE-35A3-014C-53B8-4182A5FBFC18}"/>
                </a:ext>
              </a:extLst>
            </p:cNvPr>
            <p:cNvSpPr/>
            <p:nvPr/>
          </p:nvSpPr>
          <p:spPr>
            <a:xfrm>
              <a:off x="3154680" y="3355848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False-Positive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rate (legacy AML)</a:t>
              </a:r>
              <a:endParaRPr lang="en-US" sz="1000" dirty="0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A104058C-D578-AFC1-E711-D3DA36F9B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977" y="4709160"/>
            <a:ext cx="942186" cy="32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350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69055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V="1">
            <a:off x="457198" y="1108965"/>
            <a:ext cx="8321041" cy="45719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852160" y="2535866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52160" y="2395019"/>
            <a:ext cx="256032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52160" y="2623619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8–24h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852160" y="3263699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latency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(batch systems)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1371598"/>
            <a:ext cx="5238661" cy="3437467"/>
          </a:xfrm>
          <a:prstGeom prst="roundRect">
            <a:avLst>
              <a:gd name="adj" fmla="val 2162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1532" y="1413937"/>
            <a:ext cx="4629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91B2"/>
                </a:solidFill>
              </a:rPr>
              <a:t>Core Problems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 flipV="1">
            <a:off x="821532" y="1728897"/>
            <a:ext cx="4629426" cy="45719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1532" y="1940389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891B2"/>
                </a:solidFill>
              </a:rPr>
              <a:t>⏱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233012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 Latency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3012" y="2253656"/>
            <a:ext cx="42179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Overnight batch processing — 8 to 24 hours before a suspicious transaction is evaluated</a:t>
            </a:r>
          </a:p>
        </p:txBody>
      </p:sp>
      <p:sp>
        <p:nvSpPr>
          <p:cNvPr id="26" name="Text 24"/>
          <p:cNvSpPr/>
          <p:nvPr/>
        </p:nvSpPr>
        <p:spPr>
          <a:xfrm>
            <a:off x="821532" y="2859871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891B2"/>
                </a:solidFill>
              </a:rPr>
              <a:t>⚠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33012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False Positives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3011" y="3166363"/>
            <a:ext cx="421794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Legacy rule engines generate &gt;90% false-positive rates, overwhelming analyst workloads</a:t>
            </a:r>
          </a:p>
        </p:txBody>
      </p:sp>
      <p:sp>
        <p:nvSpPr>
          <p:cNvPr id="29" name="Text 27"/>
          <p:cNvSpPr/>
          <p:nvPr/>
        </p:nvSpPr>
        <p:spPr>
          <a:xfrm>
            <a:off x="821532" y="379984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891B2"/>
                </a:solidFill>
              </a:rPr>
              <a:t>⚙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233012" y="379984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Operational Overhead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33012" y="4104808"/>
            <a:ext cx="42179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Modern stream processors (Kafka, Spark, Flink) require expensive cluster management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50FDDF5-2893-4F21-CA62-5C65F8D42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977" y="4709160"/>
            <a:ext cx="942186" cy="3264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984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RESEARCH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84734"/>
            <a:ext cx="8229600" cy="521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24814"/>
            <a:ext cx="8229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61628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61628"/>
            <a:ext cx="73152" cy="9144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1243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0F0"/>
                </a:solidFill>
              </a:rPr>
              <a:t>RQ1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58614" y="1527388"/>
            <a:ext cx="765386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E2E8F0"/>
                </a:solidFill>
              </a:rPr>
              <a:t>Can a fully serverless AWS architecture (Kinesis + Lambda + DynamoDB) sustain sub-minute end-to-end AML detection latency — from transaction emission to alert availability in the analytics layer?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86098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186098"/>
            <a:ext cx="73152" cy="9144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B0F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2369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0F0"/>
                </a:solidFill>
              </a:rPr>
              <a:t>RQ2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8613" y="2551858"/>
            <a:ext cx="76538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E2E8F0"/>
                </a:solidFill>
              </a:rPr>
              <a:t>What data-quality patterns emerge when streaming transactional data into a partitioned data lake alongside slowly-changing dimensions, and can they be resolved at the query layer using Athena views?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49D233-F12B-544E-7DC7-70DF64293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977" y="4709160"/>
            <a:ext cx="942186" cy="3264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E99CC-D62C-E4B1-D352-E68DE8D05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3BE52F-7447-AB3D-0140-D4205D7BA42A}"/>
              </a:ext>
            </a:extLst>
          </p:cNvPr>
          <p:cNvSpPr/>
          <p:nvPr/>
        </p:nvSpPr>
        <p:spPr>
          <a:xfrm>
            <a:off x="457200" y="16984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RESEARCH FRAMEWORK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AFECAF-DF0D-11BB-D39F-89CB2D3E76F7}"/>
              </a:ext>
            </a:extLst>
          </p:cNvPr>
          <p:cNvSpPr/>
          <p:nvPr/>
        </p:nvSpPr>
        <p:spPr>
          <a:xfrm>
            <a:off x="457200" y="498145"/>
            <a:ext cx="8229600" cy="521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26BE022-D2EB-3DC3-C137-1641A70F9ECD}"/>
              </a:ext>
            </a:extLst>
          </p:cNvPr>
          <p:cNvSpPr/>
          <p:nvPr/>
        </p:nvSpPr>
        <p:spPr>
          <a:xfrm>
            <a:off x="457200" y="1173668"/>
            <a:ext cx="8229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FB9C67E-62DB-0CE6-2F67-98B2D12EBB03}"/>
              </a:ext>
            </a:extLst>
          </p:cNvPr>
          <p:cNvSpPr/>
          <p:nvPr/>
        </p:nvSpPr>
        <p:spPr>
          <a:xfrm>
            <a:off x="457200" y="1513936"/>
            <a:ext cx="8229600" cy="24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realistic banking data with embedded ground-truth labels.</a:t>
            </a:r>
            <a:endParaRPr lang="en-US" sz="1600" dirty="0"/>
          </a:p>
          <a:p>
            <a:pPr marL="342900" indent="-342900" algn="just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transactions via Kinesis.</a:t>
            </a:r>
            <a:endParaRPr lang="en-US" sz="1600" dirty="0"/>
          </a:p>
          <a:p>
            <a:pPr marL="342900" indent="-342900" algn="just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AML detection rules covering structuring, layering, rapid movement, high-value transfers.</a:t>
            </a:r>
            <a:endParaRPr lang="en-US" sz="1600" dirty="0"/>
          </a:p>
          <a:p>
            <a:pPr marL="342900" indent="-342900" algn="just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slowly-changing dimension issues using Athena window functions.</a:t>
            </a:r>
            <a:endParaRPr lang="en-US" sz="1600" dirty="0"/>
          </a:p>
          <a:p>
            <a:pPr marL="342900" indent="-342900" algn="just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end-to-end latency and document all data-quality patterns encountered.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43F175-12F8-B0EC-2112-30CFAD60F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977" y="4709160"/>
            <a:ext cx="942186" cy="32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858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65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LITERATURE REVIEW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85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&amp; Related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31084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1384" y="1181547"/>
            <a:ext cx="3931920" cy="2658078"/>
          </a:xfrm>
          <a:prstGeom prst="roundRect">
            <a:avLst>
              <a:gd name="adj" fmla="val 3902"/>
            </a:avLst>
          </a:prstGeom>
          <a:solidFill>
            <a:srgbClr val="F0F4F8"/>
          </a:solidFill>
          <a:ln w="25400">
            <a:solidFill>
              <a:srgbClr val="002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1384" y="1393485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Legacy Batch Systems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8544" y="1805677"/>
            <a:ext cx="3564467" cy="15329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Actimize, FICO Falcon, Fircosoft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batch → 8 to 24h detection lag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 engines → &gt;90% false-positive rate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regulatory exposure window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34565" y="1990691"/>
            <a:ext cx="3931920" cy="2658078"/>
          </a:xfrm>
          <a:prstGeom prst="roundRect">
            <a:avLst>
              <a:gd name="adj" fmla="val 3902"/>
            </a:avLst>
          </a:prstGeom>
          <a:solidFill>
            <a:srgbClr val="F0F4F8"/>
          </a:solidFill>
          <a:ln w="25400">
            <a:solidFill>
              <a:srgbClr val="002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34566" y="2312796"/>
            <a:ext cx="39082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</a:rPr>
              <a:t>Academic Frameworks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29296" y="2965994"/>
            <a:ext cx="3564467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Kafka+Flink: 45ms latency (excellent)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VAE-QLSTM + Federated Learning (privacy-safe)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CSDT/CSLR classification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self-managed clusters — high ops cost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1CD8B6-54B7-289C-B4AD-2FFE5EBEA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977" y="4709160"/>
            <a:ext cx="942186" cy="3264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PROPOSED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2581"/>
            <a:ext cx="8229600" cy="50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Serverless Cloud-Native?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86081"/>
            <a:ext cx="8229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315211"/>
              </p:ext>
            </p:extLst>
          </p:nvPr>
        </p:nvGraphicFramePr>
        <p:xfrm>
          <a:off x="457200" y="1062063"/>
          <a:ext cx="8229600" cy="3554357"/>
        </p:xfrm>
        <a:graphic>
          <a:graphicData uri="http://schemas.openxmlformats.org/drawingml/2006/table">
            <a:tbl>
              <a:tblPr/>
              <a:tblGrid>
                <a:gridCol w="1276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6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2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70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Legacy AML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Academic Frameworks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Proposed System ✓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Processing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Overnight Batch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Distributed Streaming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</a:rPr>
                        <a:t>Event-Driven Serverless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Ingestion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ETL Scripts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Kafka + Flink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</a:rPr>
                        <a:t>Amazon Kinesis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0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Compute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Self-hosted Servers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Self-managed Clusters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</a:rPr>
                        <a:t>AWS Lambda (auto-scale)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Latency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8 – 24 hours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&lt; 1 second (in-memory)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</a:rPr>
                        <a:t>8 – 11 seconds end-to-end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0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Idle Cost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High (always-on HW)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High (always-on cluster)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</a:rPr>
                        <a:t>Near Zero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0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Scalability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Vertical, limited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Horizontal, manual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</a:rPr>
                        <a:t>Horizontal, automatic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62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Operational Complexity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High (legacy)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High (cluster ops)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</a:rPr>
                        <a:t>Low (managed services)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0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Prototyping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Poor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2E8F0"/>
                          </a:solidFill>
                        </a:rPr>
                        <a:t>Moderate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bg1"/>
                </a:solidFill>
              </a:rPr>
              <a:t>The proposed system bridges academic streaming performance with production accessibility — no cluster management, near-zero idle cost.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D53694-7D87-2D9A-2BAA-149A0526C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614" y="480807"/>
            <a:ext cx="942186" cy="3264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028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54863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Five-Layer Event-Driven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09421"/>
            <a:ext cx="8229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AA473B0-2E22-89E8-221D-AC89463C6D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32" t="4101" r="2220" b="4452"/>
          <a:stretch>
            <a:fillRect/>
          </a:stretch>
        </p:blipFill>
        <p:spPr>
          <a:xfrm>
            <a:off x="622875" y="915924"/>
            <a:ext cx="7898249" cy="3972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A32D58-5728-5A1B-86D0-2000FA69F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614" y="385352"/>
            <a:ext cx="942186" cy="3264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231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TECHNOLOGY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35672"/>
            <a:ext cx="8229600" cy="340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8884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8160" y="824229"/>
            <a:ext cx="3840481" cy="1882333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9050">
            <a:solidFill>
              <a:srgbClr val="002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6730" y="812800"/>
            <a:ext cx="3863340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8159" y="840232"/>
            <a:ext cx="38404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Streaming &amp; Compute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9607" y="1726821"/>
            <a:ext cx="3611880" cy="912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Kinesis Data Streams (on-demand)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– Python 3.11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Step Functions (orchestration)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EventBridge (scheduling)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96790" y="931672"/>
            <a:ext cx="3840480" cy="176513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9050">
            <a:solidFill>
              <a:srgbClr val="002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85360" y="808058"/>
            <a:ext cx="3863340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8219" y="815848"/>
            <a:ext cx="38176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&amp; State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22520" y="1743753"/>
            <a:ext cx="356616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(Hive-partitioned data lake)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 (rolling window state + TTL)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Hive-style dt=YYYY-MM-DD partitioning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447" y="2885777"/>
            <a:ext cx="3840481" cy="1848104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9050">
            <a:solidFill>
              <a:srgbClr val="002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1017" y="2850217"/>
            <a:ext cx="3863339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1017" y="2877649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 Layer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9607" y="3736169"/>
            <a:ext cx="3611880" cy="9759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(crawlers + data catalog)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 (SQL on S3, cleaned views)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projection (zero-latency discovery)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Athena views for data quality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91072" y="2885777"/>
            <a:ext cx="3863340" cy="1848104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9050">
            <a:solidFill>
              <a:srgbClr val="002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79645" y="2840057"/>
            <a:ext cx="3874767" cy="29260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13931" y="2850217"/>
            <a:ext cx="3817621" cy="25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28232" y="3749292"/>
            <a:ext cx="3636264" cy="9628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(Python REST backend)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+ Vite (SENTINEL UI)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 (least-privilege roles)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CloudWatch (logging &amp; monitoring)</a:t>
            </a:r>
            <a:endParaRPr lang="en-US" sz="12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8832095-229F-19ED-5A55-9CC54ACCF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848" y="1176846"/>
            <a:ext cx="440185" cy="44018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6ECE511-C333-0009-E930-BC0797608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6" y="1176845"/>
            <a:ext cx="440186" cy="44018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F0283B7-607D-C7C9-5B99-B7070F7A01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942" y="1176845"/>
            <a:ext cx="440186" cy="44018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0A0C6B6-F7C7-FB8F-0413-894A45B245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5012" y="1176844"/>
            <a:ext cx="440187" cy="44018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81D4748-6B4C-F694-AAF2-45C126CA4C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8884" y="1169416"/>
            <a:ext cx="438153" cy="43815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64B43AE-A6B1-270A-3E4F-83CD272EA5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4983" y="1162980"/>
            <a:ext cx="438153" cy="43815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349D8C3-6B75-6650-6C1B-1BD26B0D1C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2810" y="3223763"/>
            <a:ext cx="440185" cy="44018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58B5682-D10A-5272-F080-56C980639D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33173" y="3234605"/>
            <a:ext cx="440185" cy="44018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243C65B-B8E2-762A-7BA7-A4FB6CD9DC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74733" y="3225246"/>
            <a:ext cx="446322" cy="44632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633B79F-3DD0-976C-5D6C-962CFBDDB55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1190" y="3242053"/>
            <a:ext cx="880374" cy="44018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4175948-A97C-04B0-7DBE-A896BAF7C03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5199" y="3231383"/>
            <a:ext cx="440185" cy="44018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B91DE9E-E599-62CB-6DE1-570792B1040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88958" y="3234605"/>
            <a:ext cx="440185" cy="4401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A22DD56-82EB-8AC4-DE17-5D85DE381B4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97978" y="300191"/>
            <a:ext cx="942186" cy="3264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021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DETECTION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7459"/>
            <a:ext cx="8229600" cy="378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Detection Rules — Three Tiers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3601"/>
            <a:ext cx="8229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41744"/>
            <a:ext cx="8229600" cy="1530096"/>
          </a:xfrm>
          <a:prstGeom prst="roundRect">
            <a:avLst>
              <a:gd name="adj" fmla="val 6061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41744"/>
            <a:ext cx="73152" cy="1530096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206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056651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</a:rPr>
              <a:t>Tier 1 : Stateless Rules (10 rules) · Per-transaction evaluation · No memory required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476096" y="1312683"/>
            <a:ext cx="1950720" cy="1182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AutoNum type="arabicPeriod"/>
            </a:pPr>
            <a:r>
              <a:rPr lang="en-US" sz="1200" dirty="0"/>
              <a:t>HIGH_VALUE  </a:t>
            </a:r>
          </a:p>
          <a:p>
            <a:pPr marL="228600" indent="-228600">
              <a:buAutoNum type="arabicPeriod"/>
            </a:pPr>
            <a:r>
              <a:rPr lang="en-US" sz="1200" dirty="0"/>
              <a:t>CROSS_BORDER_HIGH  </a:t>
            </a:r>
          </a:p>
          <a:p>
            <a:pPr marL="228600" indent="-228600">
              <a:buAutoNum type="arabicPeriod"/>
            </a:pPr>
            <a:r>
              <a:rPr lang="en-US" sz="1200" dirty="0"/>
              <a:t>HIGH_RISK_COUNTRY </a:t>
            </a:r>
          </a:p>
          <a:p>
            <a:pPr marL="228600" indent="-228600">
              <a:buAutoNum type="arabicPeriod"/>
            </a:pPr>
            <a:r>
              <a:rPr lang="en-US" sz="1200" dirty="0"/>
              <a:t>SANCTIONED_COUNTRY </a:t>
            </a:r>
          </a:p>
          <a:p>
            <a:pPr marL="228600" indent="-228600">
              <a:buAutoNum type="arabicPeriod"/>
            </a:pPr>
            <a:r>
              <a:rPr lang="en-US" sz="1200" dirty="0"/>
              <a:t>LAYERING</a:t>
            </a:r>
          </a:p>
        </p:txBody>
      </p:sp>
      <p:sp>
        <p:nvSpPr>
          <p:cNvPr id="9" name="Shape 7"/>
          <p:cNvSpPr/>
          <p:nvPr/>
        </p:nvSpPr>
        <p:spPr>
          <a:xfrm>
            <a:off x="457200" y="2758443"/>
            <a:ext cx="8229600" cy="1188720"/>
          </a:xfrm>
          <a:prstGeom prst="roundRect">
            <a:avLst>
              <a:gd name="adj" fmla="val 6154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rgbClr val="002060"/>
              </a:solidFill>
              <a:highlight>
                <a:srgbClr val="FFFF00"/>
              </a:highlight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758443"/>
            <a:ext cx="73152" cy="11887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784861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</a:rPr>
              <a:t>Tier 2 : Stateful Rules (3 rules) · Time-windowed · DynamoDB rolling window per customer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208107" y="3104224"/>
            <a:ext cx="62958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1.   STRUCTURING_WINDOW     ≥3 deposits of $8K–$10K within 30 minutes</a:t>
            </a:r>
          </a:p>
        </p:txBody>
      </p:sp>
      <p:sp>
        <p:nvSpPr>
          <p:cNvPr id="13" name="Text 11"/>
          <p:cNvSpPr/>
          <p:nvPr/>
        </p:nvSpPr>
        <p:spPr>
          <a:xfrm>
            <a:off x="2208108" y="3341968"/>
            <a:ext cx="6295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2.   VELOCITY_BURST    	    ≥10 transactions within 10 minutes</a:t>
            </a:r>
          </a:p>
        </p:txBody>
      </p:sp>
      <p:sp>
        <p:nvSpPr>
          <p:cNvPr id="14" name="Text 12"/>
          <p:cNvSpPr/>
          <p:nvPr/>
        </p:nvSpPr>
        <p:spPr>
          <a:xfrm>
            <a:off x="2208107" y="3579712"/>
            <a:ext cx="62958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3.   RAPID_MOVEMENT    	    Large credit + matching debit within 15 minutes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4133766"/>
            <a:ext cx="8229600" cy="658368"/>
          </a:xfrm>
          <a:prstGeom prst="roundRect">
            <a:avLst>
              <a:gd name="adj" fmla="val 11111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4133766"/>
            <a:ext cx="73152" cy="65836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206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4175763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</a:rPr>
              <a:t>Tier 3 : Upstream-Tag Rule (1 rule) · Propagates generator-stamped AML pattern labels downstream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4470403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Score 0–100 per rule · Multiple rules can fire per transaction · Alert fires on any threshold breach</a:t>
            </a: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FEDB9A02-5448-4FE3-6EE2-43BE03636398}"/>
              </a:ext>
            </a:extLst>
          </p:cNvPr>
          <p:cNvSpPr/>
          <p:nvPr/>
        </p:nvSpPr>
        <p:spPr>
          <a:xfrm>
            <a:off x="4710412" y="1312683"/>
            <a:ext cx="2509961" cy="1207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6.      ROUND_TRIP </a:t>
            </a:r>
          </a:p>
          <a:p>
            <a:r>
              <a:rPr lang="en-US" sz="1200" dirty="0"/>
              <a:t>7.      SHELL_COMPANY </a:t>
            </a:r>
          </a:p>
          <a:p>
            <a:r>
              <a:rPr lang="en-US" sz="1200" dirty="0"/>
              <a:t>8.      TRADE_BASED </a:t>
            </a:r>
          </a:p>
          <a:p>
            <a:r>
              <a:rPr lang="en-US" sz="1200" dirty="0"/>
              <a:t>9.      LARGE_RAPID </a:t>
            </a:r>
          </a:p>
          <a:p>
            <a:r>
              <a:rPr lang="en-US" sz="1200" dirty="0"/>
              <a:t>10.    IMPOSSIBLE_TRAVEL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29BF35A-B5EC-DB02-E26C-55458DF03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240" y="441953"/>
            <a:ext cx="942186" cy="3264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465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52313"/>
            <a:ext cx="8229600" cy="35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Pipeline: End-to-End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14595"/>
            <a:ext cx="8229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9281990A-8A5B-29E5-D930-6BA312180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63" y="775552"/>
            <a:ext cx="6089873" cy="42640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7A1306-AFA4-1FC5-CA6F-8C3B0B3BF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977" y="4709160"/>
            <a:ext cx="942186" cy="3264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735A5-5F5B-CC8A-39F9-31C364E83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42535951-660A-B129-69CB-939EAFBD6F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0049" y="867674"/>
            <a:ext cx="8043901" cy="4051944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586C8FD9-0D35-3675-B6BE-44DC82F4D0AD}"/>
              </a:ext>
            </a:extLst>
          </p:cNvPr>
          <p:cNvSpPr/>
          <p:nvPr/>
        </p:nvSpPr>
        <p:spPr>
          <a:xfrm>
            <a:off x="457200" y="14698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BE9D21-0A1A-FD96-59E6-EFD44C2E8926}"/>
              </a:ext>
            </a:extLst>
          </p:cNvPr>
          <p:cNvSpPr/>
          <p:nvPr/>
        </p:nvSpPr>
        <p:spPr>
          <a:xfrm>
            <a:off x="457200" y="299724"/>
            <a:ext cx="8229600" cy="456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Timeline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67F6E8D-FEA3-7D02-96B3-23875F332F45}"/>
              </a:ext>
            </a:extLst>
          </p:cNvPr>
          <p:cNvSpPr/>
          <p:nvPr/>
        </p:nvSpPr>
        <p:spPr>
          <a:xfrm>
            <a:off x="457200" y="775556"/>
            <a:ext cx="8229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B61304-A6FB-8CAE-30F0-2C47313FA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798" y="385250"/>
            <a:ext cx="942186" cy="32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11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26417-69F2-D877-A504-A4A6965F5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5">
            <a:extLst>
              <a:ext uri="{FF2B5EF4-FFF2-40B4-BE49-F238E27FC236}">
                <a16:creationId xmlns:a16="http://schemas.microsoft.com/office/drawing/2014/main" id="{D0562692-4EE1-AB03-92B7-8DB694214CB1}"/>
              </a:ext>
            </a:extLst>
          </p:cNvPr>
          <p:cNvSpPr/>
          <p:nvPr/>
        </p:nvSpPr>
        <p:spPr>
          <a:xfrm>
            <a:off x="464710" y="1172739"/>
            <a:ext cx="1771227" cy="3826930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A545961-CA11-0230-87D9-55D27E2C87BE}"/>
              </a:ext>
            </a:extLst>
          </p:cNvPr>
          <p:cNvSpPr/>
          <p:nvPr/>
        </p:nvSpPr>
        <p:spPr>
          <a:xfrm>
            <a:off x="457200" y="1584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SYSTEM INTERFACES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706F2A-8E98-42DE-CB30-A956413CA07F}"/>
              </a:ext>
            </a:extLst>
          </p:cNvPr>
          <p:cNvSpPr/>
          <p:nvPr/>
        </p:nvSpPr>
        <p:spPr>
          <a:xfrm>
            <a:off x="457200" y="326815"/>
            <a:ext cx="8229600" cy="414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Dashboard — Operational Overview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91DC7BF-877A-495F-345A-E7371DCEDBB9}"/>
              </a:ext>
            </a:extLst>
          </p:cNvPr>
          <p:cNvSpPr/>
          <p:nvPr/>
        </p:nvSpPr>
        <p:spPr>
          <a:xfrm>
            <a:off x="457200" y="890695"/>
            <a:ext cx="8229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96B2094-D500-D908-186D-609FF59783F0}"/>
              </a:ext>
            </a:extLst>
          </p:cNvPr>
          <p:cNvSpPr/>
          <p:nvPr/>
        </p:nvSpPr>
        <p:spPr>
          <a:xfrm>
            <a:off x="457201" y="1080352"/>
            <a:ext cx="1778736" cy="18964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65938B0-E95A-D4A8-8935-854A5EF5F5D5}"/>
              </a:ext>
            </a:extLst>
          </p:cNvPr>
          <p:cNvSpPr/>
          <p:nvPr/>
        </p:nvSpPr>
        <p:spPr>
          <a:xfrm>
            <a:off x="514774" y="1353309"/>
            <a:ext cx="1688987" cy="48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</a:rPr>
              <a:t>Overview Dashboard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0C6FC54-FF57-9C97-EEDD-FAFB01D89733}"/>
              </a:ext>
            </a:extLst>
          </p:cNvPr>
          <p:cNvSpPr/>
          <p:nvPr/>
        </p:nvSpPr>
        <p:spPr>
          <a:xfrm>
            <a:off x="482598" y="1717716"/>
            <a:ext cx="1721163" cy="2981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tiles: Critical / Pending / Cleared / Volume</a:t>
            </a:r>
            <a:endParaRPr lang="en-US" sz="1200" dirty="0"/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breakdown bar chart (14 AML patterns)</a:t>
            </a:r>
            <a:endParaRPr lang="en-US" sz="1200" dirty="0"/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 Entities panel with risk scores</a:t>
            </a:r>
            <a:endParaRPr lang="en-US" sz="1200" dirty="0"/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transactions table (filterable)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1377DAA-18D7-8B0A-3EF6-B86D40C6E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533" y="1092542"/>
            <a:ext cx="6282267" cy="391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80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AE97AD-2CBA-82DA-408F-A8261FF9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D03146-A1B1-FCC5-59E9-0F74A76BFCEC}"/>
              </a:ext>
            </a:extLst>
          </p:cNvPr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SYSTEM INTERFACES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49369A-2DD7-6FE0-AF77-906307544BA3}"/>
              </a:ext>
            </a:extLst>
          </p:cNvPr>
          <p:cNvSpPr/>
          <p:nvPr/>
        </p:nvSpPr>
        <p:spPr>
          <a:xfrm>
            <a:off x="457200" y="326815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Dashboard — Operational Overview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3D8557E-E631-D391-FF60-872EFCA3F541}"/>
              </a:ext>
            </a:extLst>
          </p:cNvPr>
          <p:cNvSpPr/>
          <p:nvPr/>
        </p:nvSpPr>
        <p:spPr>
          <a:xfrm>
            <a:off x="457200" y="917788"/>
            <a:ext cx="8229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3486141-6451-69AA-C2E9-96411E8022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76238"/>
            <a:ext cx="6300892" cy="3923430"/>
          </a:xfrm>
          <a:prstGeom prst="rect">
            <a:avLst/>
          </a:prstGeom>
        </p:spPr>
      </p:pic>
      <p:sp>
        <p:nvSpPr>
          <p:cNvPr id="16" name="Shape 15">
            <a:extLst>
              <a:ext uri="{FF2B5EF4-FFF2-40B4-BE49-F238E27FC236}">
                <a16:creationId xmlns:a16="http://schemas.microsoft.com/office/drawing/2014/main" id="{B632EC7E-7406-DDE6-81A2-1F3DB634B283}"/>
              </a:ext>
            </a:extLst>
          </p:cNvPr>
          <p:cNvSpPr/>
          <p:nvPr/>
        </p:nvSpPr>
        <p:spPr>
          <a:xfrm>
            <a:off x="6879026" y="1172739"/>
            <a:ext cx="1771227" cy="2634827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871516" y="1076238"/>
            <a:ext cx="1771227" cy="166963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08676" y="1272892"/>
            <a:ext cx="15595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</a:rPr>
              <a:t>Alerts </a:t>
            </a:r>
            <a:r>
              <a:rPr lang="en-US" sz="1600" b="1" dirty="0">
                <a:solidFill>
                  <a:srgbClr val="8B5CF6"/>
                </a:solidFill>
                <a:cs typeface="Times New Roman" panose="02020603050405020304" pitchFamily="18" charset="0"/>
              </a:rPr>
              <a:t>View</a:t>
            </a:r>
            <a:endParaRPr lang="en-US" sz="1600" dirty="0"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28997" y="1458302"/>
            <a:ext cx="1559560" cy="2291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most recent real-time alerts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badges: CRITICAL / HIGH / MEDIUM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type and score display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and customer ID linkage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97262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5AD87-325D-30E2-B029-77E01DE22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5">
            <a:extLst>
              <a:ext uri="{FF2B5EF4-FFF2-40B4-BE49-F238E27FC236}">
                <a16:creationId xmlns:a16="http://schemas.microsoft.com/office/drawing/2014/main" id="{CB8C566D-76ED-521C-885D-76A71AAF1D7A}"/>
              </a:ext>
            </a:extLst>
          </p:cNvPr>
          <p:cNvSpPr/>
          <p:nvPr/>
        </p:nvSpPr>
        <p:spPr>
          <a:xfrm>
            <a:off x="464710" y="1172739"/>
            <a:ext cx="1771227" cy="2855359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BDCFEA0-FC85-A302-DA60-EE2A3A058824}"/>
              </a:ext>
            </a:extLst>
          </p:cNvPr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SYSTEM INTERFACES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FFCCC0-3DB0-8BE1-7653-CD00D8CC5DD0}"/>
              </a:ext>
            </a:extLst>
          </p:cNvPr>
          <p:cNvSpPr/>
          <p:nvPr/>
        </p:nvSpPr>
        <p:spPr>
          <a:xfrm>
            <a:off x="457200" y="326815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Dashboard — Operational Overview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DE8B55E-8196-66AA-1781-03709887F394}"/>
              </a:ext>
            </a:extLst>
          </p:cNvPr>
          <p:cNvSpPr/>
          <p:nvPr/>
        </p:nvSpPr>
        <p:spPr>
          <a:xfrm>
            <a:off x="457200" y="917788"/>
            <a:ext cx="8229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4710" y="1115402"/>
            <a:ext cx="1771227" cy="9797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1392731"/>
            <a:ext cx="1755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Transactions View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1635554"/>
            <a:ext cx="1755987" cy="2123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severity: All / Critical / High / Medium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entity name or transaction ID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triggered and risk score columns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CSV functionality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8248A0-E049-ECB5-5A15-423B559E4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027" y="1115403"/>
            <a:ext cx="6356773" cy="388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49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1E0D88-52D0-B85B-3FBE-0C251459B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6F79DF-CAF0-611C-AC90-D3E8248FF7F8}"/>
              </a:ext>
            </a:extLst>
          </p:cNvPr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SYSTEM INTERFACES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A052A8-C347-A4EA-9F44-494286729282}"/>
              </a:ext>
            </a:extLst>
          </p:cNvPr>
          <p:cNvSpPr/>
          <p:nvPr/>
        </p:nvSpPr>
        <p:spPr>
          <a:xfrm>
            <a:off x="457200" y="326815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Dashboard — Operational Overview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2CB6978-2627-44EF-9FBA-706E7116685B}"/>
              </a:ext>
            </a:extLst>
          </p:cNvPr>
          <p:cNvSpPr/>
          <p:nvPr/>
        </p:nvSpPr>
        <p:spPr>
          <a:xfrm>
            <a:off x="457200" y="917788"/>
            <a:ext cx="8229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3D5D68-25A4-49EB-FD52-173DD2ACD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72" y="1115403"/>
            <a:ext cx="6313701" cy="3826930"/>
          </a:xfrm>
          <a:prstGeom prst="rect">
            <a:avLst/>
          </a:prstGeom>
        </p:spPr>
      </p:pic>
      <p:sp>
        <p:nvSpPr>
          <p:cNvPr id="17" name="Shape 15"/>
          <p:cNvSpPr/>
          <p:nvPr/>
        </p:nvSpPr>
        <p:spPr>
          <a:xfrm>
            <a:off x="6918932" y="1115403"/>
            <a:ext cx="1771227" cy="2748102"/>
          </a:xfrm>
          <a:prstGeom prst="roundRect">
            <a:avLst>
              <a:gd name="adj" fmla="val 4255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26443" y="1115403"/>
            <a:ext cx="1771228" cy="198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56093" y="1518751"/>
            <a:ext cx="15619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</a:rPr>
              <a:t>Entities View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54797" y="1795395"/>
            <a:ext cx="1691603" cy="19118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Top-risk customer ranking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count and avg score per entity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type and PEP flag display</a:t>
            </a:r>
            <a:endParaRPr lang="en-US" sz="1200" dirty="0"/>
          </a:p>
          <a:p>
            <a:pPr marL="171450" indent="-1714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modal on click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73086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4530889" y="2962306"/>
            <a:ext cx="3450618" cy="1292013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08565" y="2962306"/>
            <a:ext cx="2819408" cy="1292013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30888" y="1402864"/>
            <a:ext cx="3450619" cy="1292013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08564" y="1332421"/>
            <a:ext cx="2782185" cy="136245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57200" y="594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TESTING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45365"/>
            <a:ext cx="82296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4-Layer Testing Approach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08565" y="1259269"/>
            <a:ext cx="2782184" cy="402336"/>
          </a:xfrm>
          <a:prstGeom prst="roundRect">
            <a:avLst>
              <a:gd name="adj" fmla="val 27778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94389" y="1259269"/>
            <a:ext cx="278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Component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0005" y="1661605"/>
            <a:ext cx="26269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Lambda isolated unit tests via AWS Console event payloads.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Validates schema, env vars, IAM.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30888" y="1259269"/>
            <a:ext cx="3450619" cy="402336"/>
          </a:xfrm>
          <a:prstGeom prst="roundRect">
            <a:avLst>
              <a:gd name="adj" fmla="val 27778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30889" y="1259269"/>
            <a:ext cx="33584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Integration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2329" y="1661605"/>
            <a:ext cx="321741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1E293B"/>
                </a:solidFill>
              </a:rPr>
              <a:t>Real AWS services in eu-north-1 — surfaces actual S3 consistency, Kinesis ordering, DynamoDB limits.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08565" y="2818711"/>
            <a:ext cx="2819407" cy="384048"/>
          </a:xfrm>
          <a:prstGeom prst="roundRect">
            <a:avLst>
              <a:gd name="adj" fmla="val 27778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08565" y="2818711"/>
            <a:ext cx="28194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Quality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92152" y="3221047"/>
            <a:ext cx="255686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1E293B"/>
                </a:solidFill>
              </a:rPr>
              <a:t>Athena SQL assertions: no future dates, no orphan alerts, no boolean-as-string mismatches.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30889" y="2818711"/>
            <a:ext cx="3450617" cy="402336"/>
          </a:xfrm>
          <a:prstGeom prst="roundRect">
            <a:avLst>
              <a:gd name="adj" fmla="val 27778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22329" y="2818711"/>
            <a:ext cx="3266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End-to-End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04997" y="3479679"/>
            <a:ext cx="2846851" cy="663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1E293B"/>
                </a:solidFill>
              </a:rPr>
              <a:t>Full pipeline trigger → Athena → Dashboard. </a:t>
            </a:r>
          </a:p>
          <a:p>
            <a:pPr marL="0" indent="0" algn="just">
              <a:buNone/>
            </a:pP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6D8A240-D808-9BE8-881F-DD36B5780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977" y="4709160"/>
            <a:ext cx="942186" cy="3264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339ACC-BB6B-FF2B-7884-FA80890BC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A73950-9409-06BA-EE9F-E8874E3C5732}"/>
              </a:ext>
            </a:extLst>
          </p:cNvPr>
          <p:cNvSpPr/>
          <p:nvPr/>
        </p:nvSpPr>
        <p:spPr>
          <a:xfrm>
            <a:off x="457200" y="594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TESTING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CD54A1-C09A-A631-A43D-3634682B29E5}"/>
              </a:ext>
            </a:extLst>
          </p:cNvPr>
          <p:cNvSpPr/>
          <p:nvPr/>
        </p:nvSpPr>
        <p:spPr>
          <a:xfrm>
            <a:off x="502920" y="245365"/>
            <a:ext cx="82296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2FC54FC-03C6-27D1-DB82-17838C1F2426}"/>
              </a:ext>
            </a:extLst>
          </p:cNvPr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FF877DB-50B6-DEC6-8449-5F72E6E5C916}"/>
              </a:ext>
            </a:extLst>
          </p:cNvPr>
          <p:cNvSpPr/>
          <p:nvPr/>
        </p:nvSpPr>
        <p:spPr>
          <a:xfrm>
            <a:off x="457200" y="872133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6 Test Scenarios — All Passed </a:t>
            </a:r>
            <a:r>
              <a:rPr lang="en-US" sz="1200" b="1" dirty="0">
                <a:solidFill>
                  <a:srgbClr val="00B050"/>
                </a:solidFill>
              </a:rPr>
              <a:t>✓</a:t>
            </a:r>
            <a:endParaRPr lang="en-US" sz="1200" dirty="0">
              <a:solidFill>
                <a:srgbClr val="00B050"/>
              </a:solidFill>
            </a:endParaRPr>
          </a:p>
        </p:txBody>
      </p:sp>
      <p:graphicFrame>
        <p:nvGraphicFramePr>
          <p:cNvPr id="23" name="Table 0">
            <a:extLst>
              <a:ext uri="{FF2B5EF4-FFF2-40B4-BE49-F238E27FC236}">
                <a16:creationId xmlns:a16="http://schemas.microsoft.com/office/drawing/2014/main" id="{AE3E0F2E-3C5A-EF80-E917-8D6764A33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003501"/>
              </p:ext>
            </p:extLst>
          </p:nvPr>
        </p:nvGraphicFramePr>
        <p:xfrm>
          <a:off x="457200" y="1250490"/>
          <a:ext cx="8229600" cy="3611300"/>
        </p:xfrm>
        <a:graphic>
          <a:graphicData uri="http://schemas.openxmlformats.org/drawingml/2006/table">
            <a:tbl>
              <a:tblPr/>
              <a:tblGrid>
                <a:gridCol w="563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7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2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0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45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9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9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TS-1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Cold Start End-to-End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FR-1, FR-2, FR-4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18–24 sec latency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9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TS-2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Continuous 1-hour Operation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FR-2, NFR-2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60 cycles, 0 errors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9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TS-3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Stateful DynamoDB Windowing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FR-15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STRUCTURING correctly detected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9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TS-4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DynamoDB TTL Expiry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FR-15, NFR-9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Entry deleted ~7 min post-TTL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9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TS-5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Glue Partition Discovery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FR-3, FR-10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New dt= partition found in next run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9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TS-6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Dashboard Live Refresh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FR-14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Alerts appear within 30s window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4D11B07B-27C9-C56A-147D-B671C9C97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505" y="342720"/>
            <a:ext cx="942186" cy="32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67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THRESHOLD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99629"/>
            <a:ext cx="8229600" cy="51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Analysis &amp; Operational Thresholds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37427"/>
            <a:ext cx="8229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663440" y="10552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Threshold Sensitivity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096649"/>
              </p:ext>
            </p:extLst>
          </p:nvPr>
        </p:nvGraphicFramePr>
        <p:xfrm>
          <a:off x="4663440" y="1329608"/>
          <a:ext cx="4023360" cy="1870790"/>
        </p:xfrm>
        <a:graphic>
          <a:graphicData uri="http://schemas.openxmlformats.org/drawingml/2006/table">
            <a:tbl>
              <a:tblPr/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3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6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8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891B2"/>
                          </a:solidFill>
                        </a:rPr>
                        <a:t>Threshold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891B2"/>
                          </a:solidFill>
                        </a:rPr>
                        <a:t>Precision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891B2"/>
                          </a:solidFill>
                        </a:rPr>
                        <a:t>Recall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891B2"/>
                          </a:solidFill>
                        </a:rPr>
                        <a:t>FPR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891B2"/>
                          </a:solidFill>
                        </a:rPr>
                        <a:t>F1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4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Any Rule (≥0)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0.38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1.00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0.73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0.55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4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≥ 30 (default)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0.38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1.00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0.73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0.55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4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≥ 70 (sweet spot)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0.69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0.91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0.19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0.78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4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891B2"/>
                          </a:solidFill>
                        </a:rPr>
                        <a:t>≥ 80 (F1 optimum)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891B2"/>
                          </a:solidFill>
                        </a:rPr>
                        <a:t>0.75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891B2"/>
                          </a:solidFill>
                        </a:rPr>
                        <a:t>0.86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891B2"/>
                          </a:solidFill>
                        </a:rPr>
                        <a:t>0.13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891B2"/>
                          </a:solidFill>
                        </a:rPr>
                        <a:t>0.80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4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≥ 90 (auto-escalate)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0.89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0.66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0.04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0.76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4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= 100 (max precision)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1.00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0.50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0.00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0.67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63440" y="3310128"/>
            <a:ext cx="54864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828032" y="33284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Threshold 70 — Sweet Spot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828032" y="3547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Strict Pareto improvement: FPR 0.73→0.19 (3.8× reduction), F1 0.55→0.78, recall 91%</a:t>
            </a:r>
          </a:p>
        </p:txBody>
      </p:sp>
      <p:sp>
        <p:nvSpPr>
          <p:cNvPr id="13" name="Shape 9"/>
          <p:cNvSpPr/>
          <p:nvPr/>
        </p:nvSpPr>
        <p:spPr>
          <a:xfrm>
            <a:off x="4663440" y="3858768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828032" y="38770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Threshold 80 — F1 Optimum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828032" y="40965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Maximum F1=0.80, FPR=0.13. ~7× better than legacy &gt;0.90 FPR. Recommended deployment point.</a:t>
            </a:r>
          </a:p>
        </p:txBody>
      </p:sp>
      <p:sp>
        <p:nvSpPr>
          <p:cNvPr id="16" name="Shape 12"/>
          <p:cNvSpPr/>
          <p:nvPr/>
        </p:nvSpPr>
        <p:spPr>
          <a:xfrm>
            <a:off x="4663440" y="4407408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828032" y="44256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Threshold 90 — Auto-Escalate</a:t>
            </a:r>
            <a:endParaRPr lang="en-US" sz="1000" dirty="0"/>
          </a:p>
        </p:txBody>
      </p:sp>
      <p:sp>
        <p:nvSpPr>
          <p:cNvPr id="9" name="Text 14"/>
          <p:cNvSpPr/>
          <p:nvPr/>
        </p:nvSpPr>
        <p:spPr>
          <a:xfrm>
            <a:off x="4828032" y="46451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85000"/>
                  </a:schemeClr>
                </a:solidFill>
              </a:rPr>
              <a:t>Precision 0.89, FPR 0.04. Suitable for autonomous escalation without analyst review.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D783BA9-36EE-D874-B52C-0A5632D44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31147"/>
            <a:ext cx="4054445" cy="38111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DETECTION ACCURACY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95566"/>
            <a:ext cx="8229600" cy="38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Per-Pattern Recall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7789"/>
            <a:ext cx="8229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2781932"/>
            <a:ext cx="1216027" cy="1886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</a:rPr>
              <a:t>Key Insight: All 8 AML pattern categories achieve Recall = 1.00 · HIGH_RISK_COUNTRY (precision 0.30) is the single largest source of false positives — targeted for threshold tuning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C278B0-F044-DDC2-4E11-253FD52BD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027" y="1067834"/>
            <a:ext cx="6864773" cy="3601009"/>
          </a:xfrm>
          <a:prstGeom prst="rect">
            <a:avLst/>
          </a:prstGeom>
        </p:spPr>
      </p:pic>
      <p:sp>
        <p:nvSpPr>
          <p:cNvPr id="26" name="Shape 24"/>
          <p:cNvSpPr/>
          <p:nvPr/>
        </p:nvSpPr>
        <p:spPr>
          <a:xfrm>
            <a:off x="457201" y="1091678"/>
            <a:ext cx="1216026" cy="1534652"/>
          </a:xfrm>
          <a:prstGeom prst="roundRect">
            <a:avLst>
              <a:gd name="adj" fmla="val 11111"/>
            </a:avLst>
          </a:prstGeom>
          <a:solidFill>
            <a:srgbClr val="0D1F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rot="5400000">
            <a:off x="1004006" y="544871"/>
            <a:ext cx="122413" cy="121602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0556" y="1251822"/>
            <a:ext cx="1086770" cy="260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Recall (TPR)</a:t>
            </a:r>
          </a:p>
        </p:txBody>
      </p:sp>
      <p:sp>
        <p:nvSpPr>
          <p:cNvPr id="29" name="Text 27"/>
          <p:cNvSpPr/>
          <p:nvPr/>
        </p:nvSpPr>
        <p:spPr>
          <a:xfrm>
            <a:off x="814536" y="1650813"/>
            <a:ext cx="501352" cy="32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0B981"/>
                </a:solidFill>
              </a:rPr>
              <a:t>1.00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38578" y="2057767"/>
            <a:ext cx="1058748" cy="473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Zero missed suspicious txns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EVALUATION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7455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Performance — Classification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38110"/>
            <a:ext cx="8229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6690"/>
            <a:ext cx="348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Confusion Matrix  (N = 1,013 transactions)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1" y="1471775"/>
            <a:ext cx="3484879" cy="669270"/>
          </a:xfrm>
          <a:prstGeom prst="roundRect">
            <a:avLst>
              <a:gd name="adj" fmla="val 11111"/>
            </a:avLst>
          </a:prstGeom>
          <a:solidFill>
            <a:srgbClr val="0D1F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57200" y="1461448"/>
            <a:ext cx="58505" cy="66927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6342" y="1554402"/>
            <a:ext cx="2340229" cy="260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AUC (ROC)</a:t>
            </a:r>
          </a:p>
        </p:txBody>
      </p:sp>
      <p:sp>
        <p:nvSpPr>
          <p:cNvPr id="24" name="Text 22"/>
          <p:cNvSpPr/>
          <p:nvPr/>
        </p:nvSpPr>
        <p:spPr>
          <a:xfrm>
            <a:off x="2255996" y="1535811"/>
            <a:ext cx="1560153" cy="32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891B2"/>
                </a:solidFill>
              </a:rPr>
              <a:t>0.955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6342" y="1851856"/>
            <a:ext cx="2017421" cy="223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Excellent discrimination</a:t>
            </a:r>
          </a:p>
        </p:txBody>
      </p:sp>
      <p:sp>
        <p:nvSpPr>
          <p:cNvPr id="31" name="Shape 29"/>
          <p:cNvSpPr/>
          <p:nvPr/>
        </p:nvSpPr>
        <p:spPr>
          <a:xfrm>
            <a:off x="457201" y="2220750"/>
            <a:ext cx="3484879" cy="669270"/>
          </a:xfrm>
          <a:prstGeom prst="roundRect">
            <a:avLst>
              <a:gd name="adj" fmla="val 11111"/>
            </a:avLst>
          </a:prstGeom>
          <a:solidFill>
            <a:srgbClr val="0D1F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2210423"/>
            <a:ext cx="58505" cy="66927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6342" y="2303377"/>
            <a:ext cx="2340229" cy="260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F1 @ Threshold 80</a:t>
            </a:r>
          </a:p>
        </p:txBody>
      </p:sp>
      <p:sp>
        <p:nvSpPr>
          <p:cNvPr id="34" name="Text 32"/>
          <p:cNvSpPr/>
          <p:nvPr/>
        </p:nvSpPr>
        <p:spPr>
          <a:xfrm>
            <a:off x="2255996" y="2284786"/>
            <a:ext cx="1560153" cy="32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EA5E9"/>
                </a:solidFill>
              </a:rPr>
              <a:t>0.80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66342" y="2600830"/>
            <a:ext cx="2761076" cy="223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F1-optimal operating point</a:t>
            </a:r>
          </a:p>
        </p:txBody>
      </p:sp>
      <p:sp>
        <p:nvSpPr>
          <p:cNvPr id="36" name="Shape 34"/>
          <p:cNvSpPr/>
          <p:nvPr/>
        </p:nvSpPr>
        <p:spPr>
          <a:xfrm>
            <a:off x="457201" y="2964383"/>
            <a:ext cx="3484879" cy="669270"/>
          </a:xfrm>
          <a:prstGeom prst="roundRect">
            <a:avLst>
              <a:gd name="adj" fmla="val 11111"/>
            </a:avLst>
          </a:prstGeom>
          <a:solidFill>
            <a:srgbClr val="0D1F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" y="2954056"/>
            <a:ext cx="58505" cy="66927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6342" y="3047010"/>
            <a:ext cx="2340229" cy="260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FPR @ Threshold 80</a:t>
            </a:r>
          </a:p>
        </p:txBody>
      </p:sp>
      <p:sp>
        <p:nvSpPr>
          <p:cNvPr id="39" name="Text 37"/>
          <p:cNvSpPr/>
          <p:nvPr/>
        </p:nvSpPr>
        <p:spPr>
          <a:xfrm>
            <a:off x="2255996" y="3028420"/>
            <a:ext cx="1560153" cy="32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59E0B"/>
                </a:solidFill>
              </a:rPr>
              <a:t>0.13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66342" y="3344464"/>
            <a:ext cx="2702570" cy="223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7× better than legacy (&gt;0.90)</a:t>
            </a:r>
          </a:p>
        </p:txBody>
      </p:sp>
      <p:sp>
        <p:nvSpPr>
          <p:cNvPr id="41" name="Shape 39"/>
          <p:cNvSpPr/>
          <p:nvPr/>
        </p:nvSpPr>
        <p:spPr>
          <a:xfrm>
            <a:off x="457201" y="3708017"/>
            <a:ext cx="3484879" cy="669270"/>
          </a:xfrm>
          <a:prstGeom prst="roundRect">
            <a:avLst>
              <a:gd name="adj" fmla="val 11111"/>
            </a:avLst>
          </a:prstGeom>
          <a:solidFill>
            <a:srgbClr val="0D1F3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57200" y="3697690"/>
            <a:ext cx="58505" cy="66927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66342" y="3790644"/>
            <a:ext cx="2340229" cy="260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Precision @ any-rule</a:t>
            </a:r>
          </a:p>
        </p:txBody>
      </p:sp>
      <p:sp>
        <p:nvSpPr>
          <p:cNvPr id="44" name="Text 42"/>
          <p:cNvSpPr/>
          <p:nvPr/>
        </p:nvSpPr>
        <p:spPr>
          <a:xfrm>
            <a:off x="2255996" y="3772053"/>
            <a:ext cx="1560153" cy="32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94A3B8"/>
                </a:solidFill>
              </a:rPr>
              <a:t>0.38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66342" y="4088097"/>
            <a:ext cx="2761076" cy="223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</a:rPr>
              <a:t>Dominated by HIGH_RISK_COUNTRY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E5FD048-0245-B81C-0867-013EE9E59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499" y="1039809"/>
            <a:ext cx="4398571" cy="391321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284F41-AAB2-CE42-14DA-332D4DF30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EF5480-976B-56EF-1A9D-2FFE1FE1D2AC}"/>
              </a:ext>
            </a:extLst>
          </p:cNvPr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DETECTION ACCURACY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AE4641-C052-9E12-16B7-7E795EB2CF8F}"/>
              </a:ext>
            </a:extLst>
          </p:cNvPr>
          <p:cNvSpPr/>
          <p:nvPr/>
        </p:nvSpPr>
        <p:spPr>
          <a:xfrm>
            <a:off x="457200" y="395566"/>
            <a:ext cx="822960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Per-Rule Precision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AA2F386-92A1-2FF1-7419-8CA7CF85B8BD}"/>
              </a:ext>
            </a:extLst>
          </p:cNvPr>
          <p:cNvSpPr/>
          <p:nvPr/>
        </p:nvSpPr>
        <p:spPr>
          <a:xfrm>
            <a:off x="457200" y="917789"/>
            <a:ext cx="8229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377DE14-F181-8648-A364-24BA827008DE}"/>
              </a:ext>
            </a:extLst>
          </p:cNvPr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</a:rPr>
              <a:t>Key Insight: All 8 AML pattern categories achieve Recall = 1.00 · HIGH_RISK_COUNTRY (precision 0.30) is the single largest source of false positives — targeted for threshold tuning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AD03C6-C936-7DFE-B3A9-EBAADE651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028826"/>
            <a:ext cx="6563360" cy="363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24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RESULTS &amp; DISCUSSION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249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Architectural Lessons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67755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1975104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25400">
            <a:solidFill>
              <a:srgbClr val="002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896112"/>
            <a:ext cx="3931920" cy="914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987552"/>
            <a:ext cx="367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RQ1 Confirmed: Sub-Minute AML Latency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6740" y="1444752"/>
            <a:ext cx="3672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just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end-to-end latency: 8–11 seconds (vs 8–24 hours legacy)</a:t>
            </a:r>
            <a:endParaRPr lang="en-US" sz="1100" dirty="0"/>
          </a:p>
          <a:p>
            <a:pPr marL="171450" indent="-171450" algn="just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+ Lambda replaces Kafka cluster in 2h setup (vs ~25h estimated)</a:t>
            </a:r>
            <a:endParaRPr lang="en-US" sz="1100" dirty="0"/>
          </a:p>
          <a:p>
            <a:pPr marL="171450" indent="-171450" algn="just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capacity: near-zero idle cost, automatic horizontal scale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896112"/>
            <a:ext cx="388620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25400">
            <a:solidFill>
              <a:srgbClr val="002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884426"/>
            <a:ext cx="3886200" cy="98384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9875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RQ2 Confirmed: Query-Layer DQ Resolution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60620" y="14401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just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 quality issues identified and resolved purely at Athena view layer</a:t>
            </a:r>
            <a:endParaRPr lang="en-US" sz="1100" dirty="0"/>
          </a:p>
          <a:p>
            <a:pPr marL="171450" indent="-171450" algn="just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deduplication via ROW_NUMBER() — no ingestion-time reprocessing needed</a:t>
            </a:r>
            <a:endParaRPr lang="en-US" sz="1100" dirty="0"/>
          </a:p>
          <a:p>
            <a:pPr marL="171450" indent="-171450" algn="just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projection eliminates Glue crawler delay for daily partitions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44190"/>
            <a:ext cx="3931920" cy="196672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25400">
            <a:solidFill>
              <a:srgbClr val="002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31920" cy="914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108960"/>
            <a:ext cx="36995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Complete Detection Coverage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2450" y="3515868"/>
            <a:ext cx="3672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just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1.00 across all AML pattern categories — zero missed suspicious transactions</a:t>
            </a:r>
            <a:endParaRPr lang="en-US" sz="1100" dirty="0"/>
          </a:p>
          <a:p>
            <a:pPr marL="171450" indent="-171450" algn="just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0.955 (Excellent by medical/ML convention: 0.90–1.00)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044190"/>
            <a:ext cx="3886200" cy="196672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25400">
            <a:solidFill>
              <a:srgbClr val="002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3017520"/>
            <a:ext cx="3886200" cy="91440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3108960"/>
            <a:ext cx="3608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Architectural Lessons Learned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60620" y="3566160"/>
            <a:ext cx="360807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just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view contract is more valuable than raw data itself</a:t>
            </a:r>
            <a:endParaRPr lang="en-US" sz="1100" dirty="0"/>
          </a:p>
          <a:p>
            <a:pPr marL="171450" indent="-171450" algn="just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TTL is the correct stateful pattern for ephemeral Lambda state</a:t>
            </a:r>
            <a:endParaRPr lang="en-US" sz="1100" dirty="0"/>
          </a:p>
          <a:p>
            <a:pPr marL="171450" indent="-171450" algn="just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joins require explicit attention when dimensions regenerate at different cadences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9609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24564"/>
            <a:ext cx="8229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49800B5-6C20-5076-E41C-86F0A9302D2B}"/>
              </a:ext>
            </a:extLst>
          </p:cNvPr>
          <p:cNvGrpSpPr/>
          <p:nvPr/>
        </p:nvGrpSpPr>
        <p:grpSpPr>
          <a:xfrm>
            <a:off x="457200" y="1053257"/>
            <a:ext cx="8229600" cy="1280160"/>
            <a:chOff x="457200" y="1053257"/>
            <a:chExt cx="8385048" cy="1280160"/>
          </a:xfrm>
        </p:grpSpPr>
        <p:sp>
          <p:nvSpPr>
            <p:cNvPr id="5" name="Shape 3"/>
            <p:cNvSpPr/>
            <p:nvPr/>
          </p:nvSpPr>
          <p:spPr>
            <a:xfrm>
              <a:off x="457200" y="1053257"/>
              <a:ext cx="1298448" cy="1280160"/>
            </a:xfrm>
            <a:prstGeom prst="roundRect">
              <a:avLst>
                <a:gd name="adj" fmla="val 5714"/>
              </a:avLst>
            </a:prstGeom>
            <a:solidFill>
              <a:srgbClr val="112240"/>
            </a:solidFill>
            <a:ln w="12700">
              <a:solidFill>
                <a:srgbClr val="1E3A5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457200" y="1053257"/>
              <a:ext cx="1298448" cy="54864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457200" y="1126409"/>
              <a:ext cx="129844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0891B2"/>
                  </a:solidFill>
                </a:rPr>
                <a:t>14</a:t>
              </a:r>
              <a:endParaRPr lang="en-US" sz="2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57200" y="1693337"/>
              <a:ext cx="12984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94A3B8"/>
                  </a:solidFill>
                </a:rPr>
                <a:t>AML Rules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94A3B8"/>
                  </a:solidFill>
                </a:rPr>
                <a:t>Implemented</a:t>
              </a:r>
              <a:endParaRPr lang="en-US" sz="8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1874520" y="1053257"/>
              <a:ext cx="1298448" cy="1280160"/>
            </a:xfrm>
            <a:prstGeom prst="roundRect">
              <a:avLst>
                <a:gd name="adj" fmla="val 5714"/>
              </a:avLst>
            </a:prstGeom>
            <a:solidFill>
              <a:srgbClr val="112240"/>
            </a:solidFill>
            <a:ln w="12700">
              <a:solidFill>
                <a:srgbClr val="1E3A5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1874520" y="1053257"/>
              <a:ext cx="1298448" cy="54864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1874520" y="1126409"/>
              <a:ext cx="129844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10B981"/>
                  </a:solidFill>
                </a:rPr>
                <a:t>100%</a:t>
              </a:r>
              <a:endParaRPr lang="en-US" sz="2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874520" y="1693337"/>
              <a:ext cx="12984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94A3B8"/>
                  </a:solidFill>
                </a:rPr>
                <a:t>Pattern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94A3B8"/>
                  </a:solidFill>
                </a:rPr>
                <a:t>Coverage</a:t>
              </a:r>
              <a:endParaRPr lang="en-US" sz="8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291840" y="1053257"/>
              <a:ext cx="1298448" cy="1280160"/>
            </a:xfrm>
            <a:prstGeom prst="roundRect">
              <a:avLst>
                <a:gd name="adj" fmla="val 5714"/>
              </a:avLst>
            </a:prstGeom>
            <a:solidFill>
              <a:srgbClr val="112240"/>
            </a:solidFill>
            <a:ln w="12700">
              <a:solidFill>
                <a:srgbClr val="1E3A5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/>
            <p:cNvSpPr/>
            <p:nvPr/>
          </p:nvSpPr>
          <p:spPr>
            <a:xfrm>
              <a:off x="3291840" y="1053257"/>
              <a:ext cx="1298448" cy="54864"/>
            </a:xfrm>
            <a:prstGeom prst="rect">
              <a:avLst/>
            </a:prstGeom>
            <a:solidFill>
              <a:srgbClr val="0EA5E9"/>
            </a:solidFill>
            <a:ln w="12700">
              <a:solidFill>
                <a:srgbClr val="0EA5E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3291840" y="1126409"/>
              <a:ext cx="129844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0EA5E9"/>
                  </a:solidFill>
                </a:rPr>
                <a:t>0.955</a:t>
              </a:r>
              <a:endParaRPr lang="en-US" sz="2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291840" y="1693337"/>
              <a:ext cx="12984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94A3B8"/>
                  </a:solidFill>
                </a:rPr>
                <a:t>AUC Score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94A3B8"/>
                  </a:solidFill>
                </a:rPr>
                <a:t>(Excellent)</a:t>
              </a:r>
              <a:endParaRPr lang="en-US" sz="8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709160" y="1053257"/>
              <a:ext cx="1298448" cy="1280160"/>
            </a:xfrm>
            <a:prstGeom prst="roundRect">
              <a:avLst>
                <a:gd name="adj" fmla="val 5714"/>
              </a:avLst>
            </a:prstGeom>
            <a:solidFill>
              <a:srgbClr val="112240"/>
            </a:solidFill>
            <a:ln w="12700">
              <a:solidFill>
                <a:srgbClr val="1E3A5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4709160" y="1053257"/>
              <a:ext cx="1298448" cy="54864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4709160" y="1126409"/>
              <a:ext cx="129844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F59E0B"/>
                  </a:solidFill>
                </a:rPr>
                <a:t>8–11s</a:t>
              </a:r>
              <a:endParaRPr lang="en-US" sz="2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709160" y="1693337"/>
              <a:ext cx="12984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94A3B8"/>
                  </a:solidFill>
                </a:rPr>
                <a:t>End-to-End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94A3B8"/>
                  </a:solidFill>
                </a:rPr>
                <a:t>Latency</a:t>
              </a:r>
              <a:endParaRPr lang="en-US" sz="8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126480" y="1053257"/>
              <a:ext cx="1298448" cy="1280160"/>
            </a:xfrm>
            <a:prstGeom prst="roundRect">
              <a:avLst>
                <a:gd name="adj" fmla="val 5714"/>
              </a:avLst>
            </a:prstGeom>
            <a:solidFill>
              <a:srgbClr val="112240"/>
            </a:solidFill>
            <a:ln w="12700">
              <a:solidFill>
                <a:srgbClr val="1E3A5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6126480" y="1053257"/>
              <a:ext cx="1298448" cy="54864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6126480" y="1126409"/>
              <a:ext cx="129844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10B981"/>
                  </a:solidFill>
                </a:rPr>
                <a:t>7×</a:t>
              </a:r>
              <a:endParaRPr lang="en-US" sz="2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126480" y="1693337"/>
              <a:ext cx="12984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94A3B8"/>
                  </a:solidFill>
                </a:rPr>
                <a:t>FPR Reduction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94A3B8"/>
                  </a:solidFill>
                </a:rPr>
                <a:t>vs. Legacy</a:t>
              </a:r>
              <a:endParaRPr lang="en-US" sz="8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543800" y="1053257"/>
              <a:ext cx="1298448" cy="1280160"/>
            </a:xfrm>
            <a:prstGeom prst="roundRect">
              <a:avLst>
                <a:gd name="adj" fmla="val 5714"/>
              </a:avLst>
            </a:prstGeom>
            <a:solidFill>
              <a:srgbClr val="112240"/>
            </a:solidFill>
            <a:ln w="12700">
              <a:solidFill>
                <a:srgbClr val="1E3A5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7543800" y="1053257"/>
              <a:ext cx="1298448" cy="54864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7543800" y="1126409"/>
              <a:ext cx="129844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0891B2"/>
                  </a:solidFill>
                </a:rPr>
                <a:t>15/15</a:t>
              </a:r>
              <a:endParaRPr lang="en-US" sz="26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7543800" y="1693337"/>
              <a:ext cx="12984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94A3B8"/>
                  </a:solidFill>
                </a:rPr>
                <a:t>Functional Req.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dirty="0">
                  <a:solidFill>
                    <a:srgbClr val="94A3B8"/>
                  </a:solidFill>
                </a:rPr>
                <a:t>Met (FR+NFR)</a:t>
              </a:r>
              <a:endParaRPr lang="en-US" sz="85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59B27F2-B405-608E-84B2-C9B273003A75}"/>
              </a:ext>
            </a:extLst>
          </p:cNvPr>
          <p:cNvGrpSpPr/>
          <p:nvPr/>
        </p:nvGrpSpPr>
        <p:grpSpPr>
          <a:xfrm>
            <a:off x="457200" y="2480398"/>
            <a:ext cx="8229600" cy="2338490"/>
            <a:chOff x="457200" y="2788920"/>
            <a:chExt cx="8229600" cy="2029968"/>
          </a:xfrm>
        </p:grpSpPr>
        <p:sp>
          <p:nvSpPr>
            <p:cNvPr id="29" name="Text 27"/>
            <p:cNvSpPr/>
            <p:nvPr/>
          </p:nvSpPr>
          <p:spPr>
            <a:xfrm>
              <a:off x="457200" y="2788920"/>
              <a:ext cx="8229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891B2"/>
                  </a:solidFill>
                </a:rPr>
                <a:t>✓  </a:t>
              </a:r>
              <a:r>
                <a:rPr lang="en-US" sz="1400" b="1" dirty="0">
                  <a:solidFill>
                    <a:srgbClr val="FFFFFF"/>
                  </a:solidFill>
                </a:rPr>
                <a:t>Serverless beats cluster overhead</a:t>
              </a:r>
              <a:endParaRPr lang="en-US" sz="16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457200" y="3209544"/>
              <a:ext cx="8229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891B2"/>
                  </a:solidFill>
                </a:rPr>
                <a:t>✓  </a:t>
              </a:r>
              <a:r>
                <a:rPr lang="en-US" sz="1400" b="1" dirty="0">
                  <a:solidFill>
                    <a:srgbClr val="FFFFFF"/>
                  </a:solidFill>
                </a:rPr>
                <a:t>Query-layer data quality</a:t>
              </a:r>
              <a:endParaRPr lang="en-US" sz="16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57200" y="3630168"/>
              <a:ext cx="8229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891B2"/>
                  </a:solidFill>
                </a:rPr>
                <a:t>✓  </a:t>
              </a:r>
              <a:r>
                <a:rPr lang="en-US" sz="1400" b="1" dirty="0">
                  <a:solidFill>
                    <a:srgbClr val="FFFFFF"/>
                  </a:solidFill>
                </a:rPr>
                <a:t>Complete AML coverage</a:t>
              </a:r>
              <a:endParaRPr lang="en-US" sz="16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457200" y="4050792"/>
              <a:ext cx="8229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891B2"/>
                  </a:solidFill>
                </a:rPr>
                <a:t>✓  </a:t>
              </a:r>
              <a:r>
                <a:rPr lang="en-US" sz="1400" b="1" dirty="0">
                  <a:solidFill>
                    <a:srgbClr val="FFFFFF"/>
                  </a:solidFill>
                </a:rPr>
                <a:t>Production-ready path</a:t>
              </a:r>
              <a:endParaRPr lang="en-US" sz="1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457200" y="4471416"/>
              <a:ext cx="8229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891B2"/>
                  </a:solidFill>
                </a:rPr>
                <a:t>✓  </a:t>
              </a:r>
              <a:r>
                <a:rPr lang="en-US" sz="1400" b="1" dirty="0">
                  <a:solidFill>
                    <a:srgbClr val="FFFFFF"/>
                  </a:solidFill>
                </a:rPr>
                <a:t>Broader principle</a:t>
              </a:r>
              <a:endParaRPr lang="en-US" sz="1600" dirty="0"/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78F4AB2F-2675-0BA5-D21B-4B9171555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977" y="4709160"/>
            <a:ext cx="942186" cy="32642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3113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62375"/>
            <a:ext cx="8229600" cy="36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Planned Extensions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56582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3782907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002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060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042416"/>
            <a:ext cx="309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ML-Based Scoring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335024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Recalibrate HIGH_RISK_COUNTRY with logistic regression / gradient boosting. Direct benchmark against AUC=0.955 baseline.</a:t>
            </a:r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3782907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002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" y="2084832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066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Cost-Sensitive Thresholds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359152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Weight false-negative cost proportionally to transaction value (Bahnsen et al.). Improve alert prioritisation.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2980944"/>
            <a:ext cx="3782907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002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6928" y="3108960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090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Graph Analytics (Neptune)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338328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Detect cross-customer layering via graph traversal — in-degree, fan-out, cycle detection. Powers 'Network Graph' view.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" y="4005072"/>
            <a:ext cx="3782907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002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6928" y="4133088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114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Case Management Module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4407408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Persist analyst actions (review/close/escalate) in DynamoDB. Queue-based analyst workflow with audit trail.</a:t>
            </a:r>
          </a:p>
        </p:txBody>
      </p:sp>
      <p:sp>
        <p:nvSpPr>
          <p:cNvPr id="25" name="Shape 23"/>
          <p:cNvSpPr/>
          <p:nvPr/>
        </p:nvSpPr>
        <p:spPr>
          <a:xfrm>
            <a:off x="4663440" y="932688"/>
            <a:ext cx="40233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002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73168" y="1060704"/>
            <a:ext cx="367350" cy="384048"/>
          </a:xfrm>
          <a:prstGeom prst="roundRect">
            <a:avLst>
              <a:gd name="adj" fmla="val 28571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73168" y="1060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10424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Production Deployment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1335024"/>
            <a:ext cx="32630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S3+CloudFront (frontend) · Lambda+API Gateway (backend) · Cognito auth · Custom domain + TLS.</a:t>
            </a:r>
          </a:p>
        </p:txBody>
      </p:sp>
      <p:sp>
        <p:nvSpPr>
          <p:cNvPr id="30" name="Shape 28"/>
          <p:cNvSpPr/>
          <p:nvPr/>
        </p:nvSpPr>
        <p:spPr>
          <a:xfrm>
            <a:off x="4663440" y="1956816"/>
            <a:ext cx="40233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002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73168" y="2084832"/>
            <a:ext cx="367350" cy="384048"/>
          </a:xfrm>
          <a:prstGeom prst="roundRect">
            <a:avLst>
              <a:gd name="adj" fmla="val 28571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73168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2066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Dead-Letter Queue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2359152"/>
            <a:ext cx="32630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SQS DLQ for failed Kinesis consumer batches. CloudWatch alarm + manual replay Lambda for zero data loss.</a:t>
            </a:r>
          </a:p>
        </p:txBody>
      </p:sp>
      <p:sp>
        <p:nvSpPr>
          <p:cNvPr id="35" name="Shape 33"/>
          <p:cNvSpPr/>
          <p:nvPr/>
        </p:nvSpPr>
        <p:spPr>
          <a:xfrm>
            <a:off x="4663440" y="2980944"/>
            <a:ext cx="40233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002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773168" y="3108960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73168" y="3108960"/>
            <a:ext cx="3673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57800" y="3090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Idempotent Processing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3383280"/>
            <a:ext cx="32630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Transaction-ID deduplication cache to handle Kinesis at-least-once delivery guarantees in production.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D9F1ECA-87A2-3BF5-67B3-F18C1A783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977" y="4709160"/>
            <a:ext cx="942186" cy="32642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REFERENCES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1824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46481"/>
            <a:ext cx="8229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38843"/>
            <a:ext cx="54864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02267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[1]  Davuluri, P.S.L.N. (2025). Real-Time Compliance Architecture: Scalable Real-Time Regulatory Compliance Framework for Global Financial Platforms.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696043"/>
            <a:ext cx="54864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59467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[2]  Abbassi, H., et al. (2025). Adaptive, Privacy-Enhanced Real-Time Fraud Detection via Federated Learning and VAE-QLSTM Fusion. Big Data and Cognitive Computing, 9.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153243"/>
            <a:ext cx="54864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116667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[3]  Bahnsen, A.C., et al. (2018). Fraud Detection by Stacking Cost-Sensitive Decision Trees. (CSDT / CSLR ensemble approach).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610443"/>
            <a:ext cx="54864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573867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[4]  (2024). Scalable Data Ingestion Strategies: Comparative Performance of Kafka with Spark Structured Streaming and Flink.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067643"/>
            <a:ext cx="54864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031067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[5–8] AWS Documentation: Kinesis Data Streams · Lambda · DynamoDB TTL · Athena Partition Projection.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524843"/>
            <a:ext cx="54864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488267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[9]  Financial Action Task Force (FATF). (2023). International Standards on Combating Money Laundering — FATF Recommendations.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982043"/>
            <a:ext cx="54864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945467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[10] Tiangolo, S. (2024). FastAPI Framework Documentation. https://fastapi.tiangolo.com/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439243"/>
            <a:ext cx="54864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402667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[11] Aidoo, S. (2025). The Cost of AML Compliance.</a:t>
            </a:r>
            <a:endParaRPr lang="en-US" sz="9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33246A2-FEB9-42FE-B006-F5F4F2E46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977" y="4709160"/>
            <a:ext cx="942186" cy="32642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73109"/>
          </a:xfrm>
          <a:prstGeom prst="rect">
            <a:avLst/>
          </a:prstGeom>
          <a:solidFill>
            <a:srgbClr val="0C1E40"/>
          </a:solidFill>
          <a:ln w="12700">
            <a:solidFill>
              <a:srgbClr val="0C1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571417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9761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0891B2"/>
                </a:solidFill>
              </a:rPr>
              <a:t>SENTINEL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>
                    <a:lumMod val="95000"/>
                  </a:schemeClr>
                </a:solidFill>
              </a:rPr>
              <a:t>Anti-Money Laundering Detection System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AWS · Serverless · Real-Time · AML Rules · AUC = 0.955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1718745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7200" y="26839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891B2"/>
                </a:solidFill>
              </a:rPr>
              <a:t>Questions &amp; Discussion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743200" y="3316906"/>
            <a:ext cx="3657600" cy="18288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53737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Moavia Mahmood   |   Student ID: 210208693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706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Supervisor: Asst. Prof. Dr. Yücel Tekin   |   OSTIM Technical University   |   May 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4338320"/>
            <a:ext cx="3657600" cy="347472"/>
          </a:xfrm>
          <a:prstGeom prst="roundRect">
            <a:avLst>
              <a:gd name="adj" fmla="val 31579"/>
            </a:avLst>
          </a:prstGeom>
          <a:solidFill>
            <a:srgbClr val="164E63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05760" y="4331547"/>
            <a:ext cx="321733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</a:rPr>
              <a:t>github.com/MoaviaMahmood/Financial-Transaction-Monitoring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169196-3BB1-FFB9-AA8C-B56C16B91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306" y="143002"/>
            <a:ext cx="1552353" cy="5378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2042</Words>
  <Application>Microsoft Office PowerPoint</Application>
  <PresentationFormat>On-screen Show (16:9)</PresentationFormat>
  <Paragraphs>426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Anti-Money Laundering Detection System</dc:title>
  <dc:subject>PptxGenJS Presentation</dc:subject>
  <dc:creator>Moavia Mahmood</dc:creator>
  <cp:lastModifiedBy>Moavia Mahmood</cp:lastModifiedBy>
  <cp:revision>68</cp:revision>
  <dcterms:created xsi:type="dcterms:W3CDTF">2026-05-19T11:59:55Z</dcterms:created>
  <dcterms:modified xsi:type="dcterms:W3CDTF">2026-05-20T09:56:48Z</dcterms:modified>
</cp:coreProperties>
</file>