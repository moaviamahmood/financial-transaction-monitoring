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47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2399288" cy="43200638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 userDrawn="1">
          <p15:clr>
            <a:srgbClr val="A4A3A4"/>
          </p15:clr>
        </p15:guide>
        <p15:guide id="2" pos="102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A50021"/>
    <a:srgbClr val="F8F8F8"/>
    <a:srgbClr val="EAEAEA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555D40-8FB8-4DE5-9B83-14BCFDF0BAAD}" v="16" dt="2024-05-09T08:38:14.9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796" autoAdjust="0"/>
    <p:restoredTop sz="87521" autoAdjust="0"/>
  </p:normalViewPr>
  <p:slideViewPr>
    <p:cSldViewPr>
      <p:cViewPr>
        <p:scale>
          <a:sx n="25" d="100"/>
          <a:sy n="25" d="100"/>
        </p:scale>
        <p:origin x="1882" y="-2861"/>
      </p:cViewPr>
      <p:guideLst>
        <p:guide orient="horz" pos="13607"/>
        <p:guide pos="1020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1FAC24A-9EDF-4543-89BB-1CE5AC16D18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21" tIns="48159" rIns="96321" bIns="48159" numCol="1" anchor="t" anchorCtr="0" compatLnSpc="1">
            <a:prstTxWarp prst="textNoShape">
              <a:avLst/>
            </a:prstTxWarp>
          </a:bodyPr>
          <a:lstStyle>
            <a:lvl1pPr defTabSz="963613">
              <a:defRPr sz="1400" b="0" smtClean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E8FD802-122F-453C-A1F2-77F86F966F0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37188" y="0"/>
            <a:ext cx="41624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21" tIns="48159" rIns="96321" bIns="48159" numCol="1" anchor="t" anchorCtr="0" compatLnSpc="1">
            <a:prstTxWarp prst="textNoShape">
              <a:avLst/>
            </a:prstTxWarp>
          </a:bodyPr>
          <a:lstStyle>
            <a:lvl1pPr algn="r" defTabSz="963613">
              <a:defRPr sz="1400" b="0" smtClean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CA35D143-A497-43B6-92F3-1B94AC65595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948488"/>
            <a:ext cx="416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21" tIns="48159" rIns="96321" bIns="48159" numCol="1" anchor="b" anchorCtr="0" compatLnSpc="1">
            <a:prstTxWarp prst="textNoShape">
              <a:avLst/>
            </a:prstTxWarp>
          </a:bodyPr>
          <a:lstStyle>
            <a:lvl1pPr defTabSz="963613">
              <a:defRPr sz="1400" b="0" smtClean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DFF3CD19-AC0A-483D-A25F-2CE6589C92B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37188" y="6948488"/>
            <a:ext cx="41624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21" tIns="48159" rIns="96321" bIns="48159" numCol="1" anchor="b" anchorCtr="0" compatLnSpc="1">
            <a:prstTxWarp prst="textNoShape">
              <a:avLst/>
            </a:prstTxWarp>
          </a:bodyPr>
          <a:lstStyle>
            <a:lvl1pPr algn="r" defTabSz="963613"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55562F75-DF64-4CA0-A57D-C5A29A654080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1029953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6A3B89B-7222-49DC-B280-9DE4805C33B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21" tIns="48159" rIns="96321" bIns="48159" numCol="1" anchor="t" anchorCtr="0" compatLnSpc="1">
            <a:prstTxWarp prst="textNoShape">
              <a:avLst/>
            </a:prstTxWarp>
          </a:bodyPr>
          <a:lstStyle>
            <a:lvl1pPr defTabSz="963613">
              <a:defRPr sz="1400" b="0" smtClean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36E46EA-A926-4A9D-B46B-16C2C3C64D0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437188" y="0"/>
            <a:ext cx="41624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21" tIns="48159" rIns="96321" bIns="48159" numCol="1" anchor="t" anchorCtr="0" compatLnSpc="1">
            <a:prstTxWarp prst="textNoShape">
              <a:avLst/>
            </a:prstTxWarp>
          </a:bodyPr>
          <a:lstStyle>
            <a:lvl1pPr algn="r" defTabSz="963613">
              <a:defRPr sz="1400" b="0" smtClean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B7B1D83-B998-43BE-9EFC-925FD4367B9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771900" y="549275"/>
            <a:ext cx="20574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F5F644D-975C-4127-8DF5-6E2BAC73FEA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60438" y="3475038"/>
            <a:ext cx="7681912" cy="329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21" tIns="48159" rIns="96321" bIns="481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EE4239B6-B646-4254-A87C-55BA299F9E3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8488"/>
            <a:ext cx="416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21" tIns="48159" rIns="96321" bIns="48159" numCol="1" anchor="b" anchorCtr="0" compatLnSpc="1">
            <a:prstTxWarp prst="textNoShape">
              <a:avLst/>
            </a:prstTxWarp>
          </a:bodyPr>
          <a:lstStyle>
            <a:lvl1pPr defTabSz="963613">
              <a:defRPr sz="1400" b="0" smtClean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B99C0763-A214-4858-BF00-BED60A0612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37188" y="6948488"/>
            <a:ext cx="41624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21" tIns="48159" rIns="96321" bIns="48159" numCol="1" anchor="b" anchorCtr="0" compatLnSpc="1">
            <a:prstTxWarp prst="textNoShape">
              <a:avLst/>
            </a:prstTxWarp>
          </a:bodyPr>
          <a:lstStyle>
            <a:lvl1pPr algn="r" defTabSz="963613"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10308F9C-C46A-464A-8799-EE80974B0749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1009496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3905489" y="15034830"/>
            <a:ext cx="24588310" cy="10368153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12401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62271" y="27418005"/>
            <a:ext cx="18074753" cy="781047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6732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619951" indent="0" algn="ctr">
              <a:buNone/>
              <a:defRPr sz="6732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9E5CA-B431-44FA-A61F-B1BDB9059760}" type="slidenum">
              <a:rPr lang="en-US" altLang="tr-TR" smtClean="0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7784186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9E5CA-B431-44FA-A61F-B1BDB9059760}" type="slidenum">
              <a:rPr lang="en-US" altLang="tr-TR" smtClean="0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705291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3920314" y="15034830"/>
            <a:ext cx="24591060" cy="10368153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12401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2271" y="27417507"/>
            <a:ext cx="18074753" cy="7969138"/>
          </a:xfrm>
        </p:spPr>
        <p:txBody>
          <a:bodyPr anchor="t" anchorCtr="1">
            <a:normAutofit/>
          </a:bodyPr>
          <a:lstStyle>
            <a:lvl1pPr marL="0" indent="0">
              <a:buNone/>
              <a:defRPr sz="6732">
                <a:solidFill>
                  <a:schemeClr val="tx1"/>
                </a:solidFill>
              </a:defRPr>
            </a:lvl1pPr>
            <a:lvl2pPr marL="1619951" indent="0">
              <a:buNone/>
              <a:defRPr sz="6732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9E5CA-B431-44FA-A61F-B1BDB9059760}" type="slidenum">
              <a:rPr lang="en-US" altLang="tr-TR" smtClean="0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029680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5487" y="16617845"/>
            <a:ext cx="11650219" cy="195403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843580" y="16617845"/>
            <a:ext cx="11659052" cy="195403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9E5CA-B431-44FA-A61F-B1BDB9059760}" type="slidenum">
              <a:rPr lang="en-US" altLang="tr-TR" smtClean="0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505426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5485" y="14573031"/>
            <a:ext cx="11650223" cy="4435259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6732" b="0" cap="all" spc="354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1619951" indent="0">
              <a:buNone/>
              <a:defRPr sz="6732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5485" y="19800292"/>
            <a:ext cx="11650223" cy="163578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843580" y="19800292"/>
            <a:ext cx="11659052" cy="1635788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6843580" y="14573031"/>
            <a:ext cx="11659052" cy="4435259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6732" b="0" cap="all" spc="354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1619951" indent="0">
              <a:buNone/>
              <a:defRPr sz="6732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9E5CA-B431-44FA-A61F-B1BDB9059760}" type="slidenum">
              <a:rPr lang="en-US" altLang="tr-TR" smtClean="0"/>
              <a:pPr/>
              <a:t>‹#›</a:t>
            </a:fld>
            <a:endParaRPr lang="en-US" altLang="tr-T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93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9E5CA-B431-44FA-A61F-B1BDB9059760}" type="slidenum">
              <a:rPr lang="en-US" altLang="tr-TR" smtClean="0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620757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9E5CA-B431-44FA-A61F-B1BDB9059760}" type="slidenum">
              <a:rPr lang="en-US" altLang="tr-TR" smtClean="0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849636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16199644" cy="432006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2270158" y="14134568"/>
            <a:ext cx="11659329" cy="7190638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7441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00607" y="5068875"/>
            <a:ext cx="12797719" cy="33062888"/>
          </a:xfrm>
        </p:spPr>
        <p:txBody>
          <a:bodyPr>
            <a:normAutofit/>
          </a:bodyPr>
          <a:lstStyle>
            <a:lvl1pPr>
              <a:defRPr sz="6732">
                <a:solidFill>
                  <a:schemeClr val="tx1"/>
                </a:solidFill>
              </a:defRPr>
            </a:lvl1pPr>
            <a:lvl2pPr>
              <a:defRPr sz="5669">
                <a:solidFill>
                  <a:schemeClr val="tx1"/>
                </a:solidFill>
              </a:defRPr>
            </a:lvl2pPr>
            <a:lvl3pPr>
              <a:defRPr sz="5669">
                <a:solidFill>
                  <a:schemeClr val="tx1"/>
                </a:solidFill>
              </a:defRPr>
            </a:lvl3pPr>
            <a:lvl4pPr>
              <a:defRPr sz="5669">
                <a:solidFill>
                  <a:schemeClr val="tx1"/>
                </a:solidFill>
              </a:defRPr>
            </a:lvl4pPr>
            <a:lvl5pPr>
              <a:defRPr sz="5669">
                <a:solidFill>
                  <a:schemeClr val="tx1"/>
                </a:solidFill>
              </a:defRPr>
            </a:lvl5pPr>
            <a:lvl6pPr>
              <a:defRPr sz="5669"/>
            </a:lvl6pPr>
            <a:lvl7pPr>
              <a:defRPr sz="5669"/>
            </a:lvl7pPr>
            <a:lvl8pPr>
              <a:defRPr sz="5669"/>
            </a:lvl8pPr>
            <a:lvl9pPr>
              <a:defRPr sz="566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57683" y="22362019"/>
            <a:ext cx="10084278" cy="13820903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5315">
                <a:solidFill>
                  <a:srgbClr val="FFFFFF"/>
                </a:solidFill>
              </a:defRPr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2270157" y="39283780"/>
            <a:ext cx="13486941" cy="201603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9E5CA-B431-44FA-A61F-B1BDB9059760}" type="slidenum">
              <a:rPr lang="en-US" altLang="tr-TR" smtClean="0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7410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6" y="0"/>
            <a:ext cx="16199640" cy="432006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2267950" y="14134559"/>
            <a:ext cx="11663744" cy="7200106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7441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199646" y="-265654"/>
            <a:ext cx="16215847" cy="43200638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11338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57683" y="22362028"/>
            <a:ext cx="10084278" cy="13820910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5315">
                <a:solidFill>
                  <a:srgbClr val="FFFFFF"/>
                </a:solidFill>
              </a:defRPr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267950" y="39283780"/>
            <a:ext cx="13478104" cy="201603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9E5CA-B431-44FA-A61F-B1BDB9059760}" type="slidenum">
              <a:rPr lang="en-US" altLang="tr-TR" smtClean="0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447105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9E5CA-B431-44FA-A61F-B1BDB9059760}" type="slidenum">
              <a:rPr lang="en-US" altLang="tr-TR" smtClean="0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495377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94970" y="5904087"/>
            <a:ext cx="3734443" cy="3139246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90589" y="5904087"/>
            <a:ext cx="16710486" cy="3139246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9E5CA-B431-44FA-A61F-B1BDB9059760}" type="slidenum">
              <a:rPr lang="en-US" altLang="tr-TR" smtClean="0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011467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5690587" y="6076890"/>
            <a:ext cx="21038827" cy="7488111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90587" y="16617855"/>
            <a:ext cx="21038827" cy="19540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184765" y="39300209"/>
            <a:ext cx="7317867" cy="2040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543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5485" y="39283780"/>
            <a:ext cx="16145305" cy="2016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543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196605" y="39168578"/>
            <a:ext cx="1295972" cy="2304034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3898" spc="0" baseline="0">
                <a:solidFill>
                  <a:srgbClr val="FFFFFF"/>
                </a:solidFill>
              </a:defRPr>
            </a:lvl1pPr>
          </a:lstStyle>
          <a:p>
            <a:fld id="{1FC9E5CA-B431-44FA-A61F-B1BDB9059760}" type="slidenum">
              <a:rPr lang="en-US" altLang="tr-TR" smtClean="0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496115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xStyles>
    <p:titleStyle>
      <a:lvl1pPr algn="ctr" defTabSz="3239902" rtl="0" eaLnBrk="1" latinLnBrk="0" hangingPunct="1">
        <a:lnSpc>
          <a:spcPct val="90000"/>
        </a:lnSpc>
        <a:spcBef>
          <a:spcPct val="0"/>
        </a:spcBef>
        <a:buNone/>
        <a:defRPr sz="9212" kern="1200" cap="all" spc="709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100000"/>
        </a:lnSpc>
        <a:spcBef>
          <a:spcPts val="3543"/>
        </a:spcBef>
        <a:buClr>
          <a:schemeClr val="accent2"/>
        </a:buClr>
        <a:buFont typeface="Arial" panose="020B0604020202020204" pitchFamily="34" charset="0"/>
        <a:buChar char="•"/>
        <a:defRPr sz="6378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619951" indent="-809976" algn="l" defTabSz="3239902" rtl="0" eaLnBrk="1" latinLnBrk="0" hangingPunct="1">
        <a:lnSpc>
          <a:spcPct val="100000"/>
        </a:lnSpc>
        <a:spcBef>
          <a:spcPts val="3543"/>
        </a:spcBef>
        <a:buClr>
          <a:schemeClr val="accent2"/>
        </a:buClr>
        <a:buFont typeface="Arial" panose="020B0604020202020204" pitchFamily="34" charset="0"/>
        <a:buChar char="•"/>
        <a:defRPr sz="5669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2429927" indent="-809976" algn="l" defTabSz="3239902" rtl="0" eaLnBrk="1" latinLnBrk="0" hangingPunct="1">
        <a:lnSpc>
          <a:spcPct val="100000"/>
        </a:lnSpc>
        <a:spcBef>
          <a:spcPts val="3543"/>
        </a:spcBef>
        <a:buClr>
          <a:schemeClr val="accent2"/>
        </a:buClr>
        <a:buFont typeface="Arial" panose="020B0604020202020204" pitchFamily="34" charset="0"/>
        <a:buChar char="•"/>
        <a:defRPr sz="5669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3239902" indent="-809976" algn="l" defTabSz="3239902" rtl="0" eaLnBrk="1" latinLnBrk="0" hangingPunct="1">
        <a:lnSpc>
          <a:spcPct val="100000"/>
        </a:lnSpc>
        <a:spcBef>
          <a:spcPts val="3543"/>
        </a:spcBef>
        <a:buClr>
          <a:schemeClr val="accent2"/>
        </a:buClr>
        <a:buFont typeface="Arial" panose="020B0604020202020204" pitchFamily="34" charset="0"/>
        <a:buChar char="•"/>
        <a:defRPr sz="5669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4049878" indent="-809976" algn="l" defTabSz="3239902" rtl="0" eaLnBrk="1" latinLnBrk="0" hangingPunct="1">
        <a:lnSpc>
          <a:spcPct val="100000"/>
        </a:lnSpc>
        <a:spcBef>
          <a:spcPts val="3543"/>
        </a:spcBef>
        <a:buClr>
          <a:schemeClr val="accent2"/>
        </a:buClr>
        <a:buFont typeface="Arial" panose="020B0604020202020204" pitchFamily="34" charset="0"/>
        <a:buChar char="•"/>
        <a:defRPr sz="5669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4657359" indent="-809976" algn="l" defTabSz="3239902" rtl="0" eaLnBrk="1" latinLnBrk="0" hangingPunct="1">
        <a:lnSpc>
          <a:spcPct val="100000"/>
        </a:lnSpc>
        <a:spcBef>
          <a:spcPts val="3543"/>
        </a:spcBef>
        <a:buClr>
          <a:schemeClr val="accent2"/>
        </a:buClr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5264841" indent="-809976" algn="l" defTabSz="3239902" rtl="0" eaLnBrk="1" latinLnBrk="0" hangingPunct="1">
        <a:lnSpc>
          <a:spcPct val="100000"/>
        </a:lnSpc>
        <a:spcBef>
          <a:spcPts val="3543"/>
        </a:spcBef>
        <a:buClr>
          <a:schemeClr val="accent2"/>
        </a:buClr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5872323" indent="-809976" algn="l" defTabSz="3239902" rtl="0" eaLnBrk="1" latinLnBrk="0" hangingPunct="1">
        <a:lnSpc>
          <a:spcPct val="100000"/>
        </a:lnSpc>
        <a:spcBef>
          <a:spcPts val="3543"/>
        </a:spcBef>
        <a:buClr>
          <a:schemeClr val="accent2"/>
        </a:buClr>
        <a:buFont typeface="Arial" panose="020B0604020202020204" pitchFamily="34" charset="0"/>
        <a:buChar char="•"/>
        <a:defRPr sz="5669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6479804" indent="-809976" algn="l" defTabSz="3239902" rtl="0" eaLnBrk="1" latinLnBrk="0" hangingPunct="1">
        <a:lnSpc>
          <a:spcPct val="100000"/>
        </a:lnSpc>
        <a:spcBef>
          <a:spcPts val="3543"/>
        </a:spcBef>
        <a:buClr>
          <a:schemeClr val="accent2"/>
        </a:buClr>
        <a:buFont typeface="Arial" panose="020B0604020202020204" pitchFamily="34" charset="0"/>
        <a:buChar char="•"/>
        <a:defRPr sz="5669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g"/><Relationship Id="rId18" Type="http://schemas.openxmlformats.org/officeDocument/2006/relationships/image" Target="../media/image17.jpg"/><Relationship Id="rId26" Type="http://schemas.openxmlformats.org/officeDocument/2006/relationships/image" Target="../media/image25.png"/><Relationship Id="rId3" Type="http://schemas.openxmlformats.org/officeDocument/2006/relationships/image" Target="../media/image2.jp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jpg"/><Relationship Id="rId17" Type="http://schemas.openxmlformats.org/officeDocument/2006/relationships/image" Target="../media/image16.jp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jpg"/><Relationship Id="rId5" Type="http://schemas.openxmlformats.org/officeDocument/2006/relationships/image" Target="../media/image4.png"/><Relationship Id="rId15" Type="http://schemas.openxmlformats.org/officeDocument/2006/relationships/image" Target="../media/image14.jpg"/><Relationship Id="rId23" Type="http://schemas.openxmlformats.org/officeDocument/2006/relationships/image" Target="../media/image22.jp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Text Box 15">
            <a:extLst>
              <a:ext uri="{FF2B5EF4-FFF2-40B4-BE49-F238E27FC236}">
                <a16:creationId xmlns:a16="http://schemas.microsoft.com/office/drawing/2014/main" id="{73CB46AE-1664-48EC-AB0B-4F41BA0B3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56558" y="28522681"/>
            <a:ext cx="147286" cy="680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2899" tIns="36453" rIns="72899" bIns="36453">
            <a:sp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endParaRPr lang="tr-TR" altLang="tr-TR" sz="3946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B1F2D535-31AE-48E5-988A-5DFABABECE83}"/>
              </a:ext>
            </a:extLst>
          </p:cNvPr>
          <p:cNvSpPr txBox="1">
            <a:spLocks noChangeArrowheads="1"/>
          </p:cNvSpPr>
          <p:nvPr/>
        </p:nvSpPr>
        <p:spPr>
          <a:xfrm>
            <a:off x="4051502" y="347292"/>
            <a:ext cx="27768665" cy="2603271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3504132" rtl="0" eaLnBrk="0" fontAlgn="base" hangingPunct="0">
              <a:spcBef>
                <a:spcPct val="0"/>
              </a:spcBef>
              <a:spcAft>
                <a:spcPct val="0"/>
              </a:spcAft>
              <a:defRPr sz="17072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504132" rtl="0" eaLnBrk="0" fontAlgn="base" hangingPunct="0">
              <a:spcBef>
                <a:spcPct val="0"/>
              </a:spcBef>
              <a:spcAft>
                <a:spcPct val="0"/>
              </a:spcAft>
              <a:defRPr sz="17072">
                <a:solidFill>
                  <a:schemeClr val="tx2"/>
                </a:solidFill>
                <a:latin typeface="Times New Roman" pitchFamily="18" charset="0"/>
              </a:defRPr>
            </a:lvl2pPr>
            <a:lvl3pPr algn="ctr" defTabSz="3504132" rtl="0" eaLnBrk="0" fontAlgn="base" hangingPunct="0">
              <a:spcBef>
                <a:spcPct val="0"/>
              </a:spcBef>
              <a:spcAft>
                <a:spcPct val="0"/>
              </a:spcAft>
              <a:defRPr sz="17072">
                <a:solidFill>
                  <a:schemeClr val="tx2"/>
                </a:solidFill>
                <a:latin typeface="Times New Roman" pitchFamily="18" charset="0"/>
              </a:defRPr>
            </a:lvl3pPr>
            <a:lvl4pPr algn="ctr" defTabSz="3504132" rtl="0" eaLnBrk="0" fontAlgn="base" hangingPunct="0">
              <a:spcBef>
                <a:spcPct val="0"/>
              </a:spcBef>
              <a:spcAft>
                <a:spcPct val="0"/>
              </a:spcAft>
              <a:defRPr sz="17072">
                <a:solidFill>
                  <a:schemeClr val="tx2"/>
                </a:solidFill>
                <a:latin typeface="Times New Roman" pitchFamily="18" charset="0"/>
              </a:defRPr>
            </a:lvl4pPr>
            <a:lvl5pPr algn="ctr" defTabSz="3504132" rtl="0" eaLnBrk="0" fontAlgn="base" hangingPunct="0">
              <a:spcBef>
                <a:spcPct val="0"/>
              </a:spcBef>
              <a:spcAft>
                <a:spcPct val="0"/>
              </a:spcAft>
              <a:defRPr sz="17072">
                <a:solidFill>
                  <a:schemeClr val="tx2"/>
                </a:solidFill>
                <a:latin typeface="Times New Roman" pitchFamily="18" charset="0"/>
              </a:defRPr>
            </a:lvl5pPr>
            <a:lvl6pPr marL="368183" algn="ctr" defTabSz="3504132" rtl="0" eaLnBrk="0" fontAlgn="base" hangingPunct="0">
              <a:spcBef>
                <a:spcPct val="0"/>
              </a:spcBef>
              <a:spcAft>
                <a:spcPct val="0"/>
              </a:spcAft>
              <a:defRPr sz="17072">
                <a:solidFill>
                  <a:schemeClr val="tx2"/>
                </a:solidFill>
                <a:latin typeface="Times New Roman" pitchFamily="18" charset="0"/>
              </a:defRPr>
            </a:lvl6pPr>
            <a:lvl7pPr marL="736366" algn="ctr" defTabSz="3504132" rtl="0" eaLnBrk="0" fontAlgn="base" hangingPunct="0">
              <a:spcBef>
                <a:spcPct val="0"/>
              </a:spcBef>
              <a:spcAft>
                <a:spcPct val="0"/>
              </a:spcAft>
              <a:defRPr sz="17072">
                <a:solidFill>
                  <a:schemeClr val="tx2"/>
                </a:solidFill>
                <a:latin typeface="Times New Roman" pitchFamily="18" charset="0"/>
              </a:defRPr>
            </a:lvl7pPr>
            <a:lvl8pPr marL="1104549" algn="ctr" defTabSz="3504132" rtl="0" eaLnBrk="0" fontAlgn="base" hangingPunct="0">
              <a:spcBef>
                <a:spcPct val="0"/>
              </a:spcBef>
              <a:spcAft>
                <a:spcPct val="0"/>
              </a:spcAft>
              <a:defRPr sz="17072">
                <a:solidFill>
                  <a:schemeClr val="tx2"/>
                </a:solidFill>
                <a:latin typeface="Times New Roman" pitchFamily="18" charset="0"/>
              </a:defRPr>
            </a:lvl8pPr>
            <a:lvl9pPr marL="1472733" algn="ctr" defTabSz="3504132" rtl="0" eaLnBrk="0" fontAlgn="base" hangingPunct="0">
              <a:spcBef>
                <a:spcPct val="0"/>
              </a:spcBef>
              <a:spcAft>
                <a:spcPct val="0"/>
              </a:spcAft>
              <a:defRPr sz="17072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6600" b="1" kern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OSTİM TECHNICAL UNIVERSITY FACULTY OF ENGINEERING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6600" b="1" kern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 ENGINEERING DEPARTMENT</a:t>
            </a:r>
            <a:endParaRPr lang="tr-TR" sz="6600" b="1" kern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Box 15">
            <a:extLst>
              <a:ext uri="{FF2B5EF4-FFF2-40B4-BE49-F238E27FC236}">
                <a16:creationId xmlns:a16="http://schemas.microsoft.com/office/drawing/2014/main" id="{70301FDE-BC02-4D45-8107-64D441C92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295" y="3013640"/>
            <a:ext cx="30856348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6600" b="1" dirty="0">
                <a:latin typeface="Calibri" panose="020F0502020204030204" pitchFamily="34" charset="0"/>
                <a:cs typeface="Calibri" panose="020F0502020204030204" pitchFamily="34" charset="0"/>
              </a:rPr>
              <a:t>Real-Time Anti-Money Laundering Detection System</a:t>
            </a:r>
            <a:endParaRPr lang="tr-TR" sz="6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BBC90484-A564-4117-A2D2-594E575A70CE}"/>
              </a:ext>
            </a:extLst>
          </p:cNvPr>
          <p:cNvSpPr txBox="1">
            <a:spLocks noChangeArrowheads="1"/>
          </p:cNvSpPr>
          <p:nvPr/>
        </p:nvSpPr>
        <p:spPr>
          <a:xfrm rot="16200000">
            <a:off x="-578686" y="1363036"/>
            <a:ext cx="2547909" cy="538051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ctr" defTabSz="3504132" rtl="0" eaLnBrk="0" fontAlgn="base" hangingPunct="0">
              <a:spcBef>
                <a:spcPct val="0"/>
              </a:spcBef>
              <a:spcAft>
                <a:spcPct val="0"/>
              </a:spcAft>
              <a:defRPr sz="17072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504132" rtl="0" eaLnBrk="0" fontAlgn="base" hangingPunct="0">
              <a:spcBef>
                <a:spcPct val="0"/>
              </a:spcBef>
              <a:spcAft>
                <a:spcPct val="0"/>
              </a:spcAft>
              <a:defRPr sz="17072">
                <a:solidFill>
                  <a:schemeClr val="tx2"/>
                </a:solidFill>
                <a:latin typeface="Times New Roman" pitchFamily="18" charset="0"/>
              </a:defRPr>
            </a:lvl2pPr>
            <a:lvl3pPr algn="ctr" defTabSz="3504132" rtl="0" eaLnBrk="0" fontAlgn="base" hangingPunct="0">
              <a:spcBef>
                <a:spcPct val="0"/>
              </a:spcBef>
              <a:spcAft>
                <a:spcPct val="0"/>
              </a:spcAft>
              <a:defRPr sz="17072">
                <a:solidFill>
                  <a:schemeClr val="tx2"/>
                </a:solidFill>
                <a:latin typeface="Times New Roman" pitchFamily="18" charset="0"/>
              </a:defRPr>
            </a:lvl3pPr>
            <a:lvl4pPr algn="ctr" defTabSz="3504132" rtl="0" eaLnBrk="0" fontAlgn="base" hangingPunct="0">
              <a:spcBef>
                <a:spcPct val="0"/>
              </a:spcBef>
              <a:spcAft>
                <a:spcPct val="0"/>
              </a:spcAft>
              <a:defRPr sz="17072">
                <a:solidFill>
                  <a:schemeClr val="tx2"/>
                </a:solidFill>
                <a:latin typeface="Times New Roman" pitchFamily="18" charset="0"/>
              </a:defRPr>
            </a:lvl4pPr>
            <a:lvl5pPr algn="ctr" defTabSz="3504132" rtl="0" eaLnBrk="0" fontAlgn="base" hangingPunct="0">
              <a:spcBef>
                <a:spcPct val="0"/>
              </a:spcBef>
              <a:spcAft>
                <a:spcPct val="0"/>
              </a:spcAft>
              <a:defRPr sz="17072">
                <a:solidFill>
                  <a:schemeClr val="tx2"/>
                </a:solidFill>
                <a:latin typeface="Times New Roman" pitchFamily="18" charset="0"/>
              </a:defRPr>
            </a:lvl5pPr>
            <a:lvl6pPr marL="368183" algn="ctr" defTabSz="3504132" rtl="0" eaLnBrk="0" fontAlgn="base" hangingPunct="0">
              <a:spcBef>
                <a:spcPct val="0"/>
              </a:spcBef>
              <a:spcAft>
                <a:spcPct val="0"/>
              </a:spcAft>
              <a:defRPr sz="17072">
                <a:solidFill>
                  <a:schemeClr val="tx2"/>
                </a:solidFill>
                <a:latin typeface="Times New Roman" pitchFamily="18" charset="0"/>
              </a:defRPr>
            </a:lvl6pPr>
            <a:lvl7pPr marL="736366" algn="ctr" defTabSz="3504132" rtl="0" eaLnBrk="0" fontAlgn="base" hangingPunct="0">
              <a:spcBef>
                <a:spcPct val="0"/>
              </a:spcBef>
              <a:spcAft>
                <a:spcPct val="0"/>
              </a:spcAft>
              <a:defRPr sz="17072">
                <a:solidFill>
                  <a:schemeClr val="tx2"/>
                </a:solidFill>
                <a:latin typeface="Times New Roman" pitchFamily="18" charset="0"/>
              </a:defRPr>
            </a:lvl7pPr>
            <a:lvl8pPr marL="1104549" algn="ctr" defTabSz="3504132" rtl="0" eaLnBrk="0" fontAlgn="base" hangingPunct="0">
              <a:spcBef>
                <a:spcPct val="0"/>
              </a:spcBef>
              <a:spcAft>
                <a:spcPct val="0"/>
              </a:spcAft>
              <a:defRPr sz="17072">
                <a:solidFill>
                  <a:schemeClr val="tx2"/>
                </a:solidFill>
                <a:latin typeface="Times New Roman" pitchFamily="18" charset="0"/>
              </a:defRPr>
            </a:lvl8pPr>
            <a:lvl9pPr marL="1472733" algn="ctr" defTabSz="3504132" rtl="0" eaLnBrk="0" fontAlgn="base" hangingPunct="0">
              <a:spcBef>
                <a:spcPct val="0"/>
              </a:spcBef>
              <a:spcAft>
                <a:spcPct val="0"/>
              </a:spcAft>
              <a:defRPr sz="17072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tr-TR" sz="3200" b="1" kern="0" dirty="0">
                <a:latin typeface="Times New Roman" pitchFamily="18" charset="0"/>
              </a:rPr>
              <a:t>2024-2025</a:t>
            </a:r>
          </a:p>
        </p:txBody>
      </p:sp>
      <p:sp>
        <p:nvSpPr>
          <p:cNvPr id="42" name="Rectangle 11">
            <a:extLst>
              <a:ext uri="{FF2B5EF4-FFF2-40B4-BE49-F238E27FC236}">
                <a16:creationId xmlns:a16="http://schemas.microsoft.com/office/drawing/2014/main" id="{1E956B28-2845-4D9F-AB3F-42031797B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644" y="42083911"/>
            <a:ext cx="30356771" cy="802111"/>
          </a:xfrm>
          <a:prstGeom prst="rect">
            <a:avLst/>
          </a:prstGeom>
          <a:noFill/>
          <a:ln w="508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44" name="Text Box 7">
            <a:extLst>
              <a:ext uri="{FF2B5EF4-FFF2-40B4-BE49-F238E27FC236}">
                <a16:creationId xmlns:a16="http://schemas.microsoft.com/office/drawing/2014/main" id="{91ACDF17-D6EE-4D93-BF88-B86CE991C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644" y="42098119"/>
            <a:ext cx="30175200" cy="689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68174" tIns="36453" rIns="368174" bIns="36453">
            <a:sp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tr-TR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CONTACT INFORMATION: 210208693@ostimteknik.edu.tr</a:t>
            </a:r>
            <a:endParaRPr lang="en-US" altLang="tr-TR" sz="4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ectangle 11">
            <a:extLst>
              <a:ext uri="{FF2B5EF4-FFF2-40B4-BE49-F238E27FC236}">
                <a16:creationId xmlns:a16="http://schemas.microsoft.com/office/drawing/2014/main" id="{5DEEEA58-42F3-4F8C-8A7C-7FC6B7007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295" y="3007519"/>
            <a:ext cx="30856349" cy="1101924"/>
          </a:xfrm>
          <a:prstGeom prst="rect">
            <a:avLst/>
          </a:prstGeom>
          <a:noFill/>
          <a:ln w="508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pic>
        <p:nvPicPr>
          <p:cNvPr id="1030" name="Picture 6" descr="Ostim Teknik Üniversitesi">
            <a:extLst>
              <a:ext uri="{FF2B5EF4-FFF2-40B4-BE49-F238E27FC236}">
                <a16:creationId xmlns:a16="http://schemas.microsoft.com/office/drawing/2014/main" id="{52AB2E54-E12E-0A01-0FEE-23EC988A3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644" y="381290"/>
            <a:ext cx="2842880" cy="2547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CE1D5A6-EFE5-4746-AB37-EB1549BAA17F}"/>
              </a:ext>
            </a:extLst>
          </p:cNvPr>
          <p:cNvGrpSpPr/>
          <p:nvPr/>
        </p:nvGrpSpPr>
        <p:grpSpPr>
          <a:xfrm>
            <a:off x="964295" y="4183769"/>
            <a:ext cx="30856349" cy="4157750"/>
            <a:chOff x="964295" y="4640969"/>
            <a:chExt cx="30856349" cy="4157750"/>
          </a:xfrm>
        </p:grpSpPr>
        <p:sp>
          <p:nvSpPr>
            <p:cNvPr id="2053" name="Text Box 96">
              <a:extLst>
                <a:ext uri="{FF2B5EF4-FFF2-40B4-BE49-F238E27FC236}">
                  <a16:creationId xmlns:a16="http://schemas.microsoft.com/office/drawing/2014/main" id="{A4EB9361-4DF1-4467-89C0-66C01EAD5B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5424" y="4640969"/>
              <a:ext cx="14714220" cy="812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337468" tIns="36453" rIns="337468" bIns="36453">
              <a:spAutoFit/>
            </a:bodyPr>
            <a:lstStyle>
              <a:lvl1pPr defTabSz="9080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 defTabSz="9080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 defTabSz="9080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 defTabSz="9080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 defTabSz="9080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defTabSz="90805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defTabSz="90805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defTabSz="90805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defTabSz="90805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tr-TR" sz="4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STUDENT INFORMATION: Moavia Mahmood</a:t>
              </a:r>
              <a:endParaRPr lang="az-Latn-AZ" altLang="tr-TR" sz="4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Text Box 96">
              <a:extLst>
                <a:ext uri="{FF2B5EF4-FFF2-40B4-BE49-F238E27FC236}">
                  <a16:creationId xmlns:a16="http://schemas.microsoft.com/office/drawing/2014/main" id="{E70C8216-94DC-4315-BA64-AAA5E2A8B5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50322" y="4640969"/>
              <a:ext cx="14466094" cy="812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337468" tIns="36453" rIns="337468" bIns="36453">
              <a:spAutoFit/>
            </a:bodyPr>
            <a:lstStyle>
              <a:lvl1pPr defTabSz="9080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 defTabSz="9080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 defTabSz="9080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 defTabSz="9080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 defTabSz="9080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defTabSz="90805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defTabSz="90805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defTabSz="90805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defTabSz="90805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tr-TR" sz="4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ADVISOR INFORMATION: Asst. Prof. Dr. Yucel Tekin</a:t>
              </a:r>
              <a:endParaRPr lang="tr-TR" altLang="tr-TR" sz="4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Rectangle 11">
              <a:extLst>
                <a:ext uri="{FF2B5EF4-FFF2-40B4-BE49-F238E27FC236}">
                  <a16:creationId xmlns:a16="http://schemas.microsoft.com/office/drawing/2014/main" id="{8A2CE341-429E-4072-935F-06FAB85B36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295" y="4640969"/>
              <a:ext cx="30856349" cy="4157750"/>
            </a:xfrm>
            <a:prstGeom prst="rect">
              <a:avLst/>
            </a:prstGeom>
            <a:noFill/>
            <a:ln w="508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07B7797-100E-014A-C0ED-82BC4EC63C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01639" y="5402969"/>
              <a:ext cx="2727763" cy="320737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5A9CF07-B3B8-C3D5-92B0-2B4A60B8F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417"/>
            <a:stretch>
              <a:fillRect/>
            </a:stretch>
          </p:blipFill>
          <p:spPr>
            <a:xfrm>
              <a:off x="6383414" y="5334854"/>
              <a:ext cx="3429000" cy="3343599"/>
            </a:xfrm>
            <a:prstGeom prst="rect">
              <a:avLst/>
            </a:prstGeom>
          </p:spPr>
        </p:pic>
      </p:grpSp>
      <p:sp>
        <p:nvSpPr>
          <p:cNvPr id="8" name="Rectangle 11">
            <a:extLst>
              <a:ext uri="{FF2B5EF4-FFF2-40B4-BE49-F238E27FC236}">
                <a16:creationId xmlns:a16="http://schemas.microsoft.com/office/drawing/2014/main" id="{E743872F-CD7E-FA3C-E6C9-DEECC14E9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295" y="358107"/>
            <a:ext cx="30856349" cy="2571092"/>
          </a:xfrm>
          <a:prstGeom prst="rect">
            <a:avLst/>
          </a:prstGeom>
          <a:noFill/>
          <a:ln w="508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DA6E0146-EECA-D4BA-C3D3-C746AC34E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80244" y="8493919"/>
            <a:ext cx="18440400" cy="10298914"/>
          </a:xfrm>
          <a:prstGeom prst="rect">
            <a:avLst/>
          </a:prstGeom>
          <a:noFill/>
          <a:ln w="508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A22489B-36AD-A791-CD13-8F7D1810B5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9038" y="35995793"/>
            <a:ext cx="8763285" cy="5875282"/>
          </a:xfrm>
          <a:prstGeom prst="rect">
            <a:avLst/>
          </a:prstGeom>
        </p:spPr>
      </p:pic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3D32D346-91E0-F74F-FEF4-ACCC42AFF9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047430"/>
              </p:ext>
            </p:extLst>
          </p:nvPr>
        </p:nvGraphicFramePr>
        <p:xfrm>
          <a:off x="17403572" y="8646319"/>
          <a:ext cx="14264672" cy="99788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2067">
                  <a:extLst>
                    <a:ext uri="{9D8B030D-6E8A-4147-A177-3AD203B41FA5}">
                      <a16:colId xmlns:a16="http://schemas.microsoft.com/office/drawing/2014/main" val="2068764403"/>
                    </a:ext>
                  </a:extLst>
                </a:gridCol>
                <a:gridCol w="10062605">
                  <a:extLst>
                    <a:ext uri="{9D8B030D-6E8A-4147-A177-3AD203B41FA5}">
                      <a16:colId xmlns:a16="http://schemas.microsoft.com/office/drawing/2014/main" val="54049381"/>
                    </a:ext>
                  </a:extLst>
                </a:gridCol>
              </a:tblGrid>
              <a:tr h="5527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Pattern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4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360123"/>
                  </a:ext>
                </a:extLst>
              </a:tr>
              <a:tr h="6659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HIGH_VALUE </a:t>
                      </a:r>
                      <a:endParaRPr lang="en-US" sz="2400" b="1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 exceeding a set threshold 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566800"/>
                  </a:ext>
                </a:extLst>
              </a:tr>
              <a:tr h="6345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STRUCTURING </a:t>
                      </a:r>
                      <a:endParaRPr lang="en-US" sz="2400" b="1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239902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Breaking a large amount into smaller transactions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704571"/>
                  </a:ext>
                </a:extLst>
              </a:tr>
              <a:tr h="6345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SANCTIONED_COUNTRY </a:t>
                      </a:r>
                      <a:endParaRPr lang="en-US" sz="2400" b="1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/>
                        <a:t>Nations under official government or UN sanctions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416093"/>
                  </a:ext>
                </a:extLst>
              </a:tr>
              <a:tr h="6345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STRUCTURING_WINDOW </a:t>
                      </a:r>
                      <a:endParaRPr lang="en-US" sz="2400" b="1" kern="100" dirty="0"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/>
                        <a:t>Account's cumulative total across a rolling time window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538767"/>
                  </a:ext>
                </a:extLst>
              </a:tr>
              <a:tr h="6659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LAYERING </a:t>
                      </a:r>
                      <a:endParaRPr lang="en-US" sz="2400" b="1" kern="100" dirty="0"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/>
                        <a:t>Funds are bounced through multiple accounts to obscure their origin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163609"/>
                  </a:ext>
                </a:extLst>
              </a:tr>
              <a:tr h="6659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VELOCITY_BURST </a:t>
                      </a:r>
                      <a:endParaRPr lang="en-US" sz="2400" b="1" kern="100" dirty="0"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/>
                        <a:t>Automated or coordinated behaviors rather than a natural human pattern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409166"/>
                  </a:ext>
                </a:extLst>
              </a:tr>
              <a:tr h="6659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RAPID_MOVEMENT </a:t>
                      </a:r>
                      <a:endParaRPr lang="en-US" sz="2400" b="1" kern="100" dirty="0"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/>
                        <a:t>Funds arriving in an account and leaving again almost immediately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874701"/>
                  </a:ext>
                </a:extLst>
              </a:tr>
              <a:tr h="6659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LARGE_RAPID </a:t>
                      </a:r>
                      <a:endParaRPr lang="en-US" sz="2400" b="1" kern="100" dirty="0"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/>
                        <a:t>Combines the severity of HIGH_VALUE with RAPID_MOVEMENT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140757"/>
                  </a:ext>
                </a:extLst>
              </a:tr>
              <a:tr h="71315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ROUND_TRIP </a:t>
                      </a:r>
                      <a:endParaRPr lang="en-US" sz="2400" b="1" kern="100" dirty="0"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/>
                        <a:t>Money that ultimately returns to the account it originated from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542208"/>
                  </a:ext>
                </a:extLst>
              </a:tr>
              <a:tr h="8155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IMPOSSIBLE_TRAVEL </a:t>
                      </a:r>
                      <a:endParaRPr lang="en-US" sz="2400" b="1" kern="100" dirty="0"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/>
                        <a:t>Same account appears to initiate transactions from two geographically distant locations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41180"/>
                  </a:ext>
                </a:extLst>
              </a:tr>
              <a:tr h="6659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SHELL_COMPANY </a:t>
                      </a:r>
                      <a:endParaRPr lang="en-US" sz="2400" b="1" kern="100" dirty="0"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/>
                        <a:t>Classic shell company behavior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945680"/>
                  </a:ext>
                </a:extLst>
              </a:tr>
              <a:tr h="6659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HIGH_RISK_COUNTRY </a:t>
                      </a:r>
                      <a:endParaRPr lang="en-US" sz="24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/>
                        <a:t>Countries where dirty money is easier to clean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106087"/>
                  </a:ext>
                </a:extLst>
              </a:tr>
              <a:tr h="6659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CROSS_BORDER_HIGH </a:t>
                      </a:r>
                      <a:endParaRPr lang="en-US" sz="24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/>
                        <a:t>International transfer + a large amount 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913684"/>
                  </a:ext>
                </a:extLst>
              </a:tr>
              <a:tr h="6659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TRADE_BASED </a:t>
                      </a:r>
                      <a:endParaRPr lang="en-US" sz="24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/>
                        <a:t>Transactions disguised as legitimate trade payments 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29004"/>
                  </a:ext>
                </a:extLst>
              </a:tr>
            </a:tbl>
          </a:graphicData>
        </a:graphic>
      </p:graphicFrame>
      <p:sp>
        <p:nvSpPr>
          <p:cNvPr id="39" name="Rectangle 11">
            <a:extLst>
              <a:ext uri="{FF2B5EF4-FFF2-40B4-BE49-F238E27FC236}">
                <a16:creationId xmlns:a16="http://schemas.microsoft.com/office/drawing/2014/main" id="{9FF0BA82-B17D-46C6-B50D-4C371ECD9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734" y="8470769"/>
            <a:ext cx="12263109" cy="4822738"/>
          </a:xfrm>
          <a:prstGeom prst="rect">
            <a:avLst/>
          </a:prstGeom>
          <a:noFill/>
          <a:ln w="508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38E3C0-7E68-04B0-17DC-21D7C0424DF9}"/>
              </a:ext>
            </a:extLst>
          </p:cNvPr>
          <p:cNvSpPr txBox="1"/>
          <p:nvPr/>
        </p:nvSpPr>
        <p:spPr>
          <a:xfrm>
            <a:off x="1200659" y="9255919"/>
            <a:ext cx="112651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 a fully serverless, real-time AML detection pipeline using AWS managed services.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7D0058-C893-4D4D-5F83-1D5F83FDB53D}"/>
              </a:ext>
            </a:extLst>
          </p:cNvPr>
          <p:cNvSpPr txBox="1"/>
          <p:nvPr/>
        </p:nvSpPr>
        <p:spPr>
          <a:xfrm>
            <a:off x="1116694" y="8493920"/>
            <a:ext cx="81487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PROJECT OBJECTIVE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9849CB-6422-03FE-2A73-336167BD4844}"/>
              </a:ext>
            </a:extLst>
          </p:cNvPr>
          <p:cNvSpPr txBox="1"/>
          <p:nvPr/>
        </p:nvSpPr>
        <p:spPr>
          <a:xfrm>
            <a:off x="1375427" y="10246519"/>
            <a:ext cx="1078561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transaction ingestion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Stateful AML detection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 and scalable architecture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layer with AWS Athena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for compliance analysts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latency and high reliability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B57C87-7743-9B3B-04C6-78011FD5166C}"/>
              </a:ext>
            </a:extLst>
          </p:cNvPr>
          <p:cNvSpPr txBox="1"/>
          <p:nvPr/>
        </p:nvSpPr>
        <p:spPr>
          <a:xfrm>
            <a:off x="13410248" y="8722519"/>
            <a:ext cx="37403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AML Pattern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71199BD-40C5-4032-EE58-DBA491F497DF}"/>
              </a:ext>
            </a:extLst>
          </p:cNvPr>
          <p:cNvSpPr/>
          <p:nvPr/>
        </p:nvSpPr>
        <p:spPr>
          <a:xfrm>
            <a:off x="13685044" y="11618119"/>
            <a:ext cx="318312" cy="33513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54D566-AC08-E6AD-7EF9-475E2EEF61E6}"/>
              </a:ext>
            </a:extLst>
          </p:cNvPr>
          <p:cNvSpPr txBox="1"/>
          <p:nvPr/>
        </p:nvSpPr>
        <p:spPr>
          <a:xfrm>
            <a:off x="14147938" y="11454631"/>
            <a:ext cx="26613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Stateless Rules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759C92B-3707-118E-A896-95429CC0334A}"/>
              </a:ext>
            </a:extLst>
          </p:cNvPr>
          <p:cNvSpPr/>
          <p:nvPr/>
        </p:nvSpPr>
        <p:spPr>
          <a:xfrm>
            <a:off x="13685044" y="12165633"/>
            <a:ext cx="318312" cy="335130"/>
          </a:xfrm>
          <a:prstGeom prst="ellipse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99"/>
              </a:solidFill>
              <a:highlight>
                <a:srgbClr val="FFFF00"/>
              </a:highlight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78F47F-D7D8-09D2-97B8-744F63E303F4}"/>
              </a:ext>
            </a:extLst>
          </p:cNvPr>
          <p:cNvSpPr txBox="1"/>
          <p:nvPr/>
        </p:nvSpPr>
        <p:spPr>
          <a:xfrm>
            <a:off x="14147204" y="12023944"/>
            <a:ext cx="24994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Stateful Rules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7917C1-D80F-833B-DC55-2EC7C6F91BD6}"/>
              </a:ext>
            </a:extLst>
          </p:cNvPr>
          <p:cNvSpPr txBox="1"/>
          <p:nvPr/>
        </p:nvSpPr>
        <p:spPr>
          <a:xfrm>
            <a:off x="13660152" y="12966919"/>
            <a:ext cx="375869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stateless rules </a:t>
            </a:r>
          </a:p>
          <a:p>
            <a:pPr algn="just"/>
            <a:r>
              <a:rPr lang="en-US" sz="3200" dirty="0"/>
              <a:t>protect against </a:t>
            </a:r>
          </a:p>
          <a:p>
            <a:pPr algn="just"/>
            <a:r>
              <a:rPr lang="en-US" sz="3200" dirty="0"/>
              <a:t>individual suspicious </a:t>
            </a:r>
          </a:p>
          <a:p>
            <a:pPr algn="just"/>
            <a:r>
              <a:rPr lang="en-US" sz="3200" i="1" dirty="0"/>
              <a:t>transactions</a:t>
            </a:r>
            <a:r>
              <a:rPr lang="en-US" sz="3200" dirty="0"/>
              <a:t>, </a:t>
            </a:r>
          </a:p>
          <a:p>
            <a:pPr algn="just"/>
            <a:r>
              <a:rPr lang="en-US" sz="3200" dirty="0"/>
              <a:t>while stateful </a:t>
            </a:r>
          </a:p>
          <a:p>
            <a:pPr algn="just"/>
            <a:r>
              <a:rPr lang="en-US" sz="3200" dirty="0"/>
              <a:t>rules protect </a:t>
            </a:r>
          </a:p>
          <a:p>
            <a:pPr algn="just"/>
            <a:r>
              <a:rPr lang="en-US" sz="3200" dirty="0"/>
              <a:t>against suspicious </a:t>
            </a:r>
          </a:p>
          <a:p>
            <a:pPr algn="just"/>
            <a:r>
              <a:rPr lang="en-US" sz="3200" dirty="0"/>
              <a:t>behavior and </a:t>
            </a:r>
          </a:p>
          <a:p>
            <a:pPr algn="just"/>
            <a:r>
              <a:rPr lang="en-US" sz="3200" dirty="0"/>
              <a:t>behavior only </a:t>
            </a:r>
          </a:p>
          <a:p>
            <a:pPr algn="just"/>
            <a:r>
              <a:rPr lang="en-US" sz="3200" dirty="0"/>
              <a:t>reveals itself </a:t>
            </a:r>
          </a:p>
          <a:p>
            <a:pPr algn="just"/>
            <a:r>
              <a:rPr lang="en-US" sz="3200" dirty="0"/>
              <a:t>across time.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D869098-B5DD-FA16-C809-007B524A8720}"/>
              </a:ext>
            </a:extLst>
          </p:cNvPr>
          <p:cNvSpPr txBox="1"/>
          <p:nvPr/>
        </p:nvSpPr>
        <p:spPr>
          <a:xfrm>
            <a:off x="13602280" y="9649774"/>
            <a:ext cx="37403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 Rule-based detection patterns implemented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BD9E938-1EC2-7988-4257-729C1C9423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844" y="14372854"/>
            <a:ext cx="12096543" cy="7608465"/>
          </a:xfrm>
          <a:prstGeom prst="rect">
            <a:avLst/>
          </a:prstGeom>
        </p:spPr>
      </p:pic>
      <p:sp>
        <p:nvSpPr>
          <p:cNvPr id="49" name="Rectangle 11">
            <a:extLst>
              <a:ext uri="{FF2B5EF4-FFF2-40B4-BE49-F238E27FC236}">
                <a16:creationId xmlns:a16="http://schemas.microsoft.com/office/drawing/2014/main" id="{774A137B-8360-57B1-4AA1-A68A4343C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294" y="13431699"/>
            <a:ext cx="12293553" cy="16333315"/>
          </a:xfrm>
          <a:prstGeom prst="rect">
            <a:avLst/>
          </a:prstGeom>
          <a:noFill/>
          <a:ln w="508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920921D0-D04D-58C4-508F-DD06E62ECB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5844" y="22069054"/>
            <a:ext cx="12126481" cy="760846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5E7D9F34-5BA4-DEAE-62BC-0C8BD33AD955}"/>
              </a:ext>
            </a:extLst>
          </p:cNvPr>
          <p:cNvSpPr txBox="1"/>
          <p:nvPr/>
        </p:nvSpPr>
        <p:spPr>
          <a:xfrm>
            <a:off x="964295" y="13454122"/>
            <a:ext cx="12263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DASHBOARD PRIVEWS 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DD37CFEB-D64D-47C1-C3AC-8663A544AB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2280" y="20000693"/>
            <a:ext cx="18142164" cy="9635026"/>
          </a:xfrm>
          <a:prstGeom prst="rect">
            <a:avLst/>
          </a:prstGeom>
        </p:spPr>
      </p:pic>
      <p:sp>
        <p:nvSpPr>
          <p:cNvPr id="55" name="Rectangle 11">
            <a:extLst>
              <a:ext uri="{FF2B5EF4-FFF2-40B4-BE49-F238E27FC236}">
                <a16:creationId xmlns:a16="http://schemas.microsoft.com/office/drawing/2014/main" id="{879FA9FC-E89E-4252-2838-727A250CE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10248" y="19023809"/>
            <a:ext cx="18409920" cy="10764387"/>
          </a:xfrm>
          <a:prstGeom prst="rect">
            <a:avLst/>
          </a:prstGeom>
          <a:noFill/>
          <a:ln w="508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434559-6267-28BB-59BB-504CCE8C0746}"/>
              </a:ext>
            </a:extLst>
          </p:cNvPr>
          <p:cNvSpPr txBox="1"/>
          <p:nvPr/>
        </p:nvSpPr>
        <p:spPr>
          <a:xfrm>
            <a:off x="13562648" y="19040478"/>
            <a:ext cx="11095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SYSTEM ARCHITECTURE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9E833619-8ED7-61DA-E014-8F1C61DD84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444" y="34205768"/>
            <a:ext cx="10729796" cy="7594831"/>
          </a:xfrm>
          <a:prstGeom prst="rect">
            <a:avLst/>
          </a:prstGeom>
        </p:spPr>
      </p:pic>
      <p:sp>
        <p:nvSpPr>
          <p:cNvPr id="59" name="Rectangle 11">
            <a:extLst>
              <a:ext uri="{FF2B5EF4-FFF2-40B4-BE49-F238E27FC236}">
                <a16:creationId xmlns:a16="http://schemas.microsoft.com/office/drawing/2014/main" id="{DE0E4B9F-ADC7-FE27-0932-6F49AF718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643" y="29917414"/>
            <a:ext cx="20240019" cy="12026864"/>
          </a:xfrm>
          <a:prstGeom prst="rect">
            <a:avLst/>
          </a:prstGeom>
          <a:noFill/>
          <a:ln w="508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922BEC95-DEBA-AE06-7EEC-D0F526B9BB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820647"/>
              </p:ext>
            </p:extLst>
          </p:nvPr>
        </p:nvGraphicFramePr>
        <p:xfrm>
          <a:off x="1264443" y="30881083"/>
          <a:ext cx="10729795" cy="32160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14156">
                  <a:extLst>
                    <a:ext uri="{9D8B030D-6E8A-4147-A177-3AD203B41FA5}">
                      <a16:colId xmlns:a16="http://schemas.microsoft.com/office/drawing/2014/main" val="1975046183"/>
                    </a:ext>
                  </a:extLst>
                </a:gridCol>
                <a:gridCol w="4615639">
                  <a:extLst>
                    <a:ext uri="{9D8B030D-6E8A-4147-A177-3AD203B41FA5}">
                      <a16:colId xmlns:a16="http://schemas.microsoft.com/office/drawing/2014/main" val="2375463885"/>
                    </a:ext>
                  </a:extLst>
                </a:gridCol>
              </a:tblGrid>
              <a:tr h="5470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 </a:t>
                      </a:r>
                      <a:endParaRPr lang="en-US" sz="3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 </a:t>
                      </a:r>
                      <a:endParaRPr lang="en-US" sz="32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000928"/>
                  </a:ext>
                </a:extLst>
              </a:tr>
              <a:tr h="5330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 </a:t>
                      </a:r>
                      <a:endParaRPr lang="en-US" sz="3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0.3794 </a:t>
                      </a:r>
                      <a:endParaRPr lang="en-US" sz="3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776438"/>
                  </a:ext>
                </a:extLst>
              </a:tr>
              <a:tr h="5369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(True Positive Rate) </a:t>
                      </a:r>
                      <a:endParaRPr lang="en-US" sz="3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1.0000 </a:t>
                      </a:r>
                      <a:endParaRPr lang="en-US" sz="3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605619"/>
                  </a:ext>
                </a:extLst>
              </a:tr>
              <a:tr h="5330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score </a:t>
                      </a:r>
                      <a:endParaRPr lang="en-US" sz="3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0.5501 </a:t>
                      </a:r>
                      <a:endParaRPr lang="en-US" sz="3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356058"/>
                  </a:ext>
                </a:extLst>
              </a:tr>
              <a:tr h="5330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</a:t>
                      </a:r>
                      <a:endParaRPr lang="en-US" sz="3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0.4946 </a:t>
                      </a:r>
                      <a:endParaRPr lang="en-US" sz="3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07154"/>
                  </a:ext>
                </a:extLst>
              </a:tr>
              <a:tr h="5330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Positive Rate </a:t>
                      </a:r>
                      <a:endParaRPr lang="en-US" sz="3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0.7314 </a:t>
                      </a:r>
                      <a:endParaRPr lang="en-US" sz="3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058955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0B6505DC-C3C2-54C1-FD15-AEC00BE2A4FD}"/>
              </a:ext>
            </a:extLst>
          </p:cNvPr>
          <p:cNvSpPr txBox="1"/>
          <p:nvPr/>
        </p:nvSpPr>
        <p:spPr>
          <a:xfrm>
            <a:off x="1261384" y="29982319"/>
            <a:ext cx="80040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RESULTS &amp; PERFORMANCE</a:t>
            </a:r>
          </a:p>
        </p:txBody>
      </p:sp>
      <p:sp>
        <p:nvSpPr>
          <p:cNvPr id="1024" name="Rectangle 11">
            <a:extLst>
              <a:ext uri="{FF2B5EF4-FFF2-40B4-BE49-F238E27FC236}">
                <a16:creationId xmlns:a16="http://schemas.microsoft.com/office/drawing/2014/main" id="{67CCAF7A-8F1C-23D0-F196-853F67D93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60962" y="29940596"/>
            <a:ext cx="10359205" cy="12005123"/>
          </a:xfrm>
          <a:prstGeom prst="rect">
            <a:avLst/>
          </a:prstGeom>
          <a:noFill/>
          <a:ln w="508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A6B78F8B-9772-2717-486A-717CF0FD19A2}"/>
              </a:ext>
            </a:extLst>
          </p:cNvPr>
          <p:cNvSpPr txBox="1"/>
          <p:nvPr/>
        </p:nvSpPr>
        <p:spPr>
          <a:xfrm>
            <a:off x="21457903" y="30021592"/>
            <a:ext cx="10359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TECHNOLOGIES USED</a:t>
            </a: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8713F7EA-740E-1AF4-BD02-A8E267AB6A47}"/>
              </a:ext>
            </a:extLst>
          </p:cNvPr>
          <p:cNvSpPr txBox="1"/>
          <p:nvPr/>
        </p:nvSpPr>
        <p:spPr>
          <a:xfrm>
            <a:off x="20881065" y="30842719"/>
            <a:ext cx="10779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dirty="0"/>
              <a:t>————————————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&amp; Infrastructure </a:t>
            </a:r>
            <a:r>
              <a:rPr lang="en-US" dirty="0"/>
              <a:t>———————————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35EFF93-0AB6-82A6-5950-7FF7724FB725}"/>
              </a:ext>
            </a:extLst>
          </p:cNvPr>
          <p:cNvGrpSpPr/>
          <p:nvPr/>
        </p:nvGrpSpPr>
        <p:grpSpPr>
          <a:xfrm>
            <a:off x="21609844" y="31658719"/>
            <a:ext cx="9753600" cy="3666725"/>
            <a:chOff x="20772754" y="32182994"/>
            <a:chExt cx="9981090" cy="3666725"/>
          </a:xfrm>
        </p:grpSpPr>
        <p:pic>
          <p:nvPicPr>
            <p:cNvPr id="1028" name="Picture 1027">
              <a:extLst>
                <a:ext uri="{FF2B5EF4-FFF2-40B4-BE49-F238E27FC236}">
                  <a16:creationId xmlns:a16="http://schemas.microsoft.com/office/drawing/2014/main" id="{4CCC3809-931D-B087-E511-F6F35EFFD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/>
          </p:blipFill>
          <p:spPr>
            <a:xfrm>
              <a:off x="20772754" y="32225743"/>
              <a:ext cx="1797815" cy="1010143"/>
            </a:xfrm>
            <a:prstGeom prst="rect">
              <a:avLst/>
            </a:prstGeom>
          </p:spPr>
        </p:pic>
        <p:pic>
          <p:nvPicPr>
            <p:cNvPr id="1031" name="Picture 1030">
              <a:extLst>
                <a:ext uri="{FF2B5EF4-FFF2-40B4-BE49-F238E27FC236}">
                  <a16:creationId xmlns:a16="http://schemas.microsoft.com/office/drawing/2014/main" id="{E1B8C9AC-49A9-8A56-977D-323A4B355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89716" y="32182994"/>
              <a:ext cx="1177539" cy="1177539"/>
            </a:xfrm>
            <a:prstGeom prst="rect">
              <a:avLst/>
            </a:prstGeom>
          </p:spPr>
        </p:pic>
        <p:pic>
          <p:nvPicPr>
            <p:cNvPr id="1033" name="Picture 1032">
              <a:extLst>
                <a:ext uri="{FF2B5EF4-FFF2-40B4-BE49-F238E27FC236}">
                  <a16:creationId xmlns:a16="http://schemas.microsoft.com/office/drawing/2014/main" id="{6CB3D532-D64C-FFB9-9B38-DF1E99A81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15344" y="32192415"/>
              <a:ext cx="1177539" cy="1177539"/>
            </a:xfrm>
            <a:prstGeom prst="rect">
              <a:avLst/>
            </a:prstGeom>
          </p:spPr>
        </p:pic>
        <p:pic>
          <p:nvPicPr>
            <p:cNvPr id="1035" name="Picture 1034">
              <a:extLst>
                <a:ext uri="{FF2B5EF4-FFF2-40B4-BE49-F238E27FC236}">
                  <a16:creationId xmlns:a16="http://schemas.microsoft.com/office/drawing/2014/main" id="{5EAA187A-AA8B-F541-F952-02CDAC8B2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16358" y="32241523"/>
              <a:ext cx="1177540" cy="1177540"/>
            </a:xfrm>
            <a:prstGeom prst="rect">
              <a:avLst/>
            </a:prstGeom>
          </p:spPr>
        </p:pic>
        <p:pic>
          <p:nvPicPr>
            <p:cNvPr id="1037" name="Picture 1036">
              <a:extLst>
                <a:ext uri="{FF2B5EF4-FFF2-40B4-BE49-F238E27FC236}">
                  <a16:creationId xmlns:a16="http://schemas.microsoft.com/office/drawing/2014/main" id="{5B0D5F86-A57A-6159-7ED6-4440C3507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07500" y="34113784"/>
              <a:ext cx="1177540" cy="1177540"/>
            </a:xfrm>
            <a:prstGeom prst="rect">
              <a:avLst/>
            </a:prstGeom>
          </p:spPr>
        </p:pic>
        <p:pic>
          <p:nvPicPr>
            <p:cNvPr id="1039" name="Picture 1038">
              <a:extLst>
                <a:ext uri="{FF2B5EF4-FFF2-40B4-BE49-F238E27FC236}">
                  <a16:creationId xmlns:a16="http://schemas.microsoft.com/office/drawing/2014/main" id="{85A28A14-CCC9-045B-6AD1-3810E00A71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05595" y="34113784"/>
              <a:ext cx="1198845" cy="1198845"/>
            </a:xfrm>
            <a:prstGeom prst="rect">
              <a:avLst/>
            </a:prstGeom>
          </p:spPr>
        </p:pic>
        <p:pic>
          <p:nvPicPr>
            <p:cNvPr id="1041" name="Picture 1040">
              <a:extLst>
                <a:ext uri="{FF2B5EF4-FFF2-40B4-BE49-F238E27FC236}">
                  <a16:creationId xmlns:a16="http://schemas.microsoft.com/office/drawing/2014/main" id="{2A555FE4-BD00-8597-68E3-34D65E82D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429970" y="34121737"/>
              <a:ext cx="1198845" cy="1198845"/>
            </a:xfrm>
            <a:prstGeom prst="rect">
              <a:avLst/>
            </a:prstGeom>
          </p:spPr>
        </p:pic>
        <p:pic>
          <p:nvPicPr>
            <p:cNvPr id="1043" name="Picture 1042">
              <a:extLst>
                <a:ext uri="{FF2B5EF4-FFF2-40B4-BE49-F238E27FC236}">
                  <a16:creationId xmlns:a16="http://schemas.microsoft.com/office/drawing/2014/main" id="{A7A2E524-4D7B-1093-96D1-A50824DDE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92901" y="34113784"/>
              <a:ext cx="1177539" cy="1177539"/>
            </a:xfrm>
            <a:prstGeom prst="rect">
              <a:avLst/>
            </a:prstGeom>
          </p:spPr>
        </p:pic>
        <p:pic>
          <p:nvPicPr>
            <p:cNvPr id="1045" name="Picture 1044">
              <a:extLst>
                <a:ext uri="{FF2B5EF4-FFF2-40B4-BE49-F238E27FC236}">
                  <a16:creationId xmlns:a16="http://schemas.microsoft.com/office/drawing/2014/main" id="{65CFA531-56A4-796B-D6EC-DFD1562DA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485330" y="32267386"/>
              <a:ext cx="1198844" cy="1198844"/>
            </a:xfrm>
            <a:prstGeom prst="rect">
              <a:avLst/>
            </a:prstGeom>
          </p:spPr>
        </p:pic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AE603D05-8801-4AD3-6091-A61AD31B3287}"/>
                </a:ext>
              </a:extLst>
            </p:cNvPr>
            <p:cNvSpPr txBox="1"/>
            <p:nvPr/>
          </p:nvSpPr>
          <p:spPr>
            <a:xfrm>
              <a:off x="21077083" y="33258919"/>
              <a:ext cx="118915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AWS</a:t>
              </a:r>
            </a:p>
          </p:txBody>
        </p:sp>
        <p:sp>
          <p:nvSpPr>
            <p:cNvPr id="1051" name="TextBox 1050">
              <a:extLst>
                <a:ext uri="{FF2B5EF4-FFF2-40B4-BE49-F238E27FC236}">
                  <a16:creationId xmlns:a16="http://schemas.microsoft.com/office/drawing/2014/main" id="{BAABC1D3-587C-3A00-B20F-E85FA30C944D}"/>
                </a:ext>
              </a:extLst>
            </p:cNvPr>
            <p:cNvSpPr txBox="1"/>
            <p:nvPr/>
          </p:nvSpPr>
          <p:spPr>
            <a:xfrm>
              <a:off x="23018517" y="33369335"/>
              <a:ext cx="154738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Lambda</a:t>
              </a:r>
            </a:p>
          </p:txBody>
        </p:sp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167C071F-A7AF-04A7-9461-E99EFAE7FD8D}"/>
                </a:ext>
              </a:extLst>
            </p:cNvPr>
            <p:cNvSpPr txBox="1"/>
            <p:nvPr/>
          </p:nvSpPr>
          <p:spPr>
            <a:xfrm>
              <a:off x="24905549" y="33325994"/>
              <a:ext cx="21653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EventBridge</a:t>
              </a:r>
              <a:endPara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185B8A7A-E399-F33D-0C1B-45214BE2C208}"/>
                </a:ext>
              </a:extLst>
            </p:cNvPr>
            <p:cNvSpPr txBox="1"/>
            <p:nvPr/>
          </p:nvSpPr>
          <p:spPr>
            <a:xfrm>
              <a:off x="27516358" y="33412374"/>
              <a:ext cx="11775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Glue</a:t>
              </a:r>
            </a:p>
          </p:txBody>
        </p:sp>
        <p:sp>
          <p:nvSpPr>
            <p:cNvPr id="1054" name="TextBox 1053">
              <a:extLst>
                <a:ext uri="{FF2B5EF4-FFF2-40B4-BE49-F238E27FC236}">
                  <a16:creationId xmlns:a16="http://schemas.microsoft.com/office/drawing/2014/main" id="{E9268AD1-7E1B-F9BB-BA00-6C327B0D977C}"/>
                </a:ext>
              </a:extLst>
            </p:cNvPr>
            <p:cNvSpPr txBox="1"/>
            <p:nvPr/>
          </p:nvSpPr>
          <p:spPr>
            <a:xfrm>
              <a:off x="29506208" y="33488574"/>
              <a:ext cx="11988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S3</a:t>
              </a:r>
            </a:p>
          </p:txBody>
        </p:sp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00BF0CA0-E63F-679F-DD31-8CC117ECBB05}"/>
                </a:ext>
              </a:extLst>
            </p:cNvPr>
            <p:cNvSpPr txBox="1"/>
            <p:nvPr/>
          </p:nvSpPr>
          <p:spPr>
            <a:xfrm>
              <a:off x="20787752" y="35260992"/>
              <a:ext cx="23333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err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StepFunctions</a:t>
              </a:r>
              <a:endPara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56" name="TextBox 1055">
              <a:extLst>
                <a:ext uri="{FF2B5EF4-FFF2-40B4-BE49-F238E27FC236}">
                  <a16:creationId xmlns:a16="http://schemas.microsoft.com/office/drawing/2014/main" id="{70C7E2D9-3D1E-D0DC-5B80-16C03A5902F0}"/>
                </a:ext>
              </a:extLst>
            </p:cNvPr>
            <p:cNvSpPr txBox="1"/>
            <p:nvPr/>
          </p:nvSpPr>
          <p:spPr>
            <a:xfrm>
              <a:off x="23833371" y="35272537"/>
              <a:ext cx="13125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Athena</a:t>
              </a:r>
            </a:p>
          </p:txBody>
        </p:sp>
        <p:sp>
          <p:nvSpPr>
            <p:cNvPr id="1057" name="TextBox 1056">
              <a:extLst>
                <a:ext uri="{FF2B5EF4-FFF2-40B4-BE49-F238E27FC236}">
                  <a16:creationId xmlns:a16="http://schemas.microsoft.com/office/drawing/2014/main" id="{68E0671E-3AF6-2C4B-4918-739671865419}"/>
                </a:ext>
              </a:extLst>
            </p:cNvPr>
            <p:cNvSpPr txBox="1"/>
            <p:nvPr/>
          </p:nvSpPr>
          <p:spPr>
            <a:xfrm>
              <a:off x="26282908" y="35326499"/>
              <a:ext cx="20238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DynamoDB</a:t>
              </a:r>
            </a:p>
          </p:txBody>
        </p:sp>
        <p:sp>
          <p:nvSpPr>
            <p:cNvPr id="1058" name="TextBox 1057">
              <a:extLst>
                <a:ext uri="{FF2B5EF4-FFF2-40B4-BE49-F238E27FC236}">
                  <a16:creationId xmlns:a16="http://schemas.microsoft.com/office/drawing/2014/main" id="{B0C4EE39-BB8D-6B72-4916-AA507A41E653}"/>
                </a:ext>
              </a:extLst>
            </p:cNvPr>
            <p:cNvSpPr txBox="1"/>
            <p:nvPr/>
          </p:nvSpPr>
          <p:spPr>
            <a:xfrm>
              <a:off x="29364050" y="35326499"/>
              <a:ext cx="13897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Kinesis</a:t>
              </a:r>
            </a:p>
          </p:txBody>
        </p:sp>
      </p:grpSp>
      <p:sp>
        <p:nvSpPr>
          <p:cNvPr id="1059" name="TextBox 1058">
            <a:extLst>
              <a:ext uri="{FF2B5EF4-FFF2-40B4-BE49-F238E27FC236}">
                <a16:creationId xmlns:a16="http://schemas.microsoft.com/office/drawing/2014/main" id="{60A13F8E-8422-D205-7BDA-BC1F8DFB5A04}"/>
              </a:ext>
            </a:extLst>
          </p:cNvPr>
          <p:cNvSpPr txBox="1"/>
          <p:nvPr/>
        </p:nvSpPr>
        <p:spPr>
          <a:xfrm>
            <a:off x="21083571" y="35621119"/>
            <a:ext cx="107335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————————————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Application Stack </a:t>
            </a:r>
            <a:r>
              <a:rPr lang="en-US" dirty="0"/>
              <a:t>————————————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FC6A5D-F1B9-5748-8990-6067B26CC95E}"/>
              </a:ext>
            </a:extLst>
          </p:cNvPr>
          <p:cNvGrpSpPr/>
          <p:nvPr/>
        </p:nvGrpSpPr>
        <p:grpSpPr>
          <a:xfrm>
            <a:off x="21976257" y="36454762"/>
            <a:ext cx="9463387" cy="2061957"/>
            <a:chOff x="21366988" y="36671960"/>
            <a:chExt cx="9463387" cy="2061957"/>
          </a:xfrm>
        </p:grpSpPr>
        <p:pic>
          <p:nvPicPr>
            <p:cNvPr id="1047" name="Picture 1046">
              <a:extLst>
                <a:ext uri="{FF2B5EF4-FFF2-40B4-BE49-F238E27FC236}">
                  <a16:creationId xmlns:a16="http://schemas.microsoft.com/office/drawing/2014/main" id="{21F1C9DD-0647-6CD6-9E69-DB6A3CA21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04193" y="36850499"/>
              <a:ext cx="2013672" cy="1006836"/>
            </a:xfrm>
            <a:prstGeom prst="rect">
              <a:avLst/>
            </a:prstGeom>
          </p:spPr>
        </p:pic>
        <p:pic>
          <p:nvPicPr>
            <p:cNvPr id="1049" name="Picture 1048">
              <a:extLst>
                <a:ext uri="{FF2B5EF4-FFF2-40B4-BE49-F238E27FC236}">
                  <a16:creationId xmlns:a16="http://schemas.microsoft.com/office/drawing/2014/main" id="{8AA29922-08F6-6B23-F646-252ADF9755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77185" y="36671960"/>
              <a:ext cx="1363914" cy="1363914"/>
            </a:xfrm>
            <a:prstGeom prst="rect">
              <a:avLst/>
            </a:prstGeom>
          </p:spPr>
        </p:pic>
        <p:sp>
          <p:nvSpPr>
            <p:cNvPr id="1060" name="TextBox 1059">
              <a:extLst>
                <a:ext uri="{FF2B5EF4-FFF2-40B4-BE49-F238E27FC236}">
                  <a16:creationId xmlns:a16="http://schemas.microsoft.com/office/drawing/2014/main" id="{DCB9E076-22A4-0738-D5C4-74C459AA75D9}"/>
                </a:ext>
              </a:extLst>
            </p:cNvPr>
            <p:cNvSpPr txBox="1"/>
            <p:nvPr/>
          </p:nvSpPr>
          <p:spPr>
            <a:xfrm>
              <a:off x="21366988" y="38013486"/>
              <a:ext cx="14461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REACT</a:t>
              </a:r>
            </a:p>
          </p:txBody>
        </p:sp>
        <p:pic>
          <p:nvPicPr>
            <p:cNvPr id="1062" name="Picture 1061">
              <a:extLst>
                <a:ext uri="{FF2B5EF4-FFF2-40B4-BE49-F238E27FC236}">
                  <a16:creationId xmlns:a16="http://schemas.microsoft.com/office/drawing/2014/main" id="{FE22953D-E93A-9300-88A3-EF1E85179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92883" y="36764119"/>
              <a:ext cx="1334272" cy="1334272"/>
            </a:xfrm>
            <a:prstGeom prst="rect">
              <a:avLst/>
            </a:prstGeom>
          </p:spPr>
        </p:pic>
        <p:sp>
          <p:nvSpPr>
            <p:cNvPr id="1063" name="TextBox 1062">
              <a:extLst>
                <a:ext uri="{FF2B5EF4-FFF2-40B4-BE49-F238E27FC236}">
                  <a16:creationId xmlns:a16="http://schemas.microsoft.com/office/drawing/2014/main" id="{D8E1870B-9B62-F275-E32C-A789567E09FF}"/>
                </a:ext>
              </a:extLst>
            </p:cNvPr>
            <p:cNvSpPr txBox="1"/>
            <p:nvPr/>
          </p:nvSpPr>
          <p:spPr>
            <a:xfrm>
              <a:off x="26248087" y="38210697"/>
              <a:ext cx="20238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TypeScript</a:t>
              </a:r>
            </a:p>
          </p:txBody>
        </p:sp>
        <p:pic>
          <p:nvPicPr>
            <p:cNvPr id="1065" name="Picture 1064">
              <a:extLst>
                <a:ext uri="{FF2B5EF4-FFF2-40B4-BE49-F238E27FC236}">
                  <a16:creationId xmlns:a16="http://schemas.microsoft.com/office/drawing/2014/main" id="{59F8F055-94BE-C54C-AA69-947FD62E60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/>
          </p:blipFill>
          <p:spPr>
            <a:xfrm>
              <a:off x="29115555" y="36764119"/>
              <a:ext cx="1334272" cy="1334272"/>
            </a:xfrm>
            <a:prstGeom prst="rect">
              <a:avLst/>
            </a:prstGeom>
          </p:spPr>
        </p:pic>
        <p:sp>
          <p:nvSpPr>
            <p:cNvPr id="1066" name="TextBox 1065">
              <a:extLst>
                <a:ext uri="{FF2B5EF4-FFF2-40B4-BE49-F238E27FC236}">
                  <a16:creationId xmlns:a16="http://schemas.microsoft.com/office/drawing/2014/main" id="{1E573060-377A-7F1B-A4F7-BF5ECC0B6A26}"/>
                </a:ext>
              </a:extLst>
            </p:cNvPr>
            <p:cNvSpPr txBox="1"/>
            <p:nvPr/>
          </p:nvSpPr>
          <p:spPr>
            <a:xfrm>
              <a:off x="23571736" y="37841099"/>
              <a:ext cx="20238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Fast API</a:t>
              </a:r>
            </a:p>
          </p:txBody>
        </p:sp>
        <p:sp>
          <p:nvSpPr>
            <p:cNvPr id="1067" name="TextBox 1066">
              <a:extLst>
                <a:ext uri="{FF2B5EF4-FFF2-40B4-BE49-F238E27FC236}">
                  <a16:creationId xmlns:a16="http://schemas.microsoft.com/office/drawing/2014/main" id="{57E70B3F-2934-83FE-5695-789970228314}"/>
                </a:ext>
              </a:extLst>
            </p:cNvPr>
            <p:cNvSpPr txBox="1"/>
            <p:nvPr/>
          </p:nvSpPr>
          <p:spPr>
            <a:xfrm>
              <a:off x="28806511" y="38134497"/>
              <a:ext cx="20238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Python</a:t>
              </a:r>
            </a:p>
          </p:txBody>
        </p:sp>
      </p:grpSp>
      <p:sp>
        <p:nvSpPr>
          <p:cNvPr id="1068" name="TextBox 1067">
            <a:extLst>
              <a:ext uri="{FF2B5EF4-FFF2-40B4-BE49-F238E27FC236}">
                <a16:creationId xmlns:a16="http://schemas.microsoft.com/office/drawing/2014/main" id="{3AB4CF55-A6DB-693D-9058-62C13F8196A8}"/>
              </a:ext>
            </a:extLst>
          </p:cNvPr>
          <p:cNvSpPr txBox="1"/>
          <p:nvPr/>
        </p:nvSpPr>
        <p:spPr>
          <a:xfrm>
            <a:off x="21163306" y="38516719"/>
            <a:ext cx="107335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————————————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Tools &amp; Services </a:t>
            </a:r>
            <a:r>
              <a:rPr lang="en-US" dirty="0"/>
              <a:t>————————————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70" name="Picture 1069">
            <a:extLst>
              <a:ext uri="{FF2B5EF4-FFF2-40B4-BE49-F238E27FC236}">
                <a16:creationId xmlns:a16="http://schemas.microsoft.com/office/drawing/2014/main" id="{1F5E9F41-B36F-2343-C473-83FEAF3C40F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2186" y="39560814"/>
            <a:ext cx="1177539" cy="1177539"/>
          </a:xfrm>
          <a:prstGeom prst="rect">
            <a:avLst/>
          </a:prstGeom>
        </p:spPr>
      </p:pic>
      <p:pic>
        <p:nvPicPr>
          <p:cNvPr id="1072" name="Picture 1071">
            <a:extLst>
              <a:ext uri="{FF2B5EF4-FFF2-40B4-BE49-F238E27FC236}">
                <a16:creationId xmlns:a16="http://schemas.microsoft.com/office/drawing/2014/main" id="{31686AAA-B402-2877-D02A-CBE6AB423EC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1412" y="39536697"/>
            <a:ext cx="1225772" cy="1225772"/>
          </a:xfrm>
          <a:prstGeom prst="rect">
            <a:avLst/>
          </a:prstGeom>
        </p:spPr>
      </p:pic>
      <p:pic>
        <p:nvPicPr>
          <p:cNvPr id="1074" name="Picture 1073">
            <a:extLst>
              <a:ext uri="{FF2B5EF4-FFF2-40B4-BE49-F238E27FC236}">
                <a16:creationId xmlns:a16="http://schemas.microsoft.com/office/drawing/2014/main" id="{C66DA916-6A4A-B495-55C5-8D3277685B0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/>
        </p:blipFill>
        <p:spPr>
          <a:xfrm>
            <a:off x="29347238" y="39431119"/>
            <a:ext cx="1471770" cy="1471770"/>
          </a:xfrm>
          <a:prstGeom prst="rect">
            <a:avLst/>
          </a:prstGeom>
        </p:spPr>
      </p:pic>
      <p:pic>
        <p:nvPicPr>
          <p:cNvPr id="1076" name="Picture 1075">
            <a:extLst>
              <a:ext uri="{FF2B5EF4-FFF2-40B4-BE49-F238E27FC236}">
                <a16:creationId xmlns:a16="http://schemas.microsoft.com/office/drawing/2014/main" id="{6666BFC1-E206-F9D5-4B34-AFD000953B0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/>
        </p:blipFill>
        <p:spPr>
          <a:xfrm>
            <a:off x="26808871" y="39428135"/>
            <a:ext cx="1374584" cy="1374584"/>
          </a:xfrm>
          <a:prstGeom prst="rect">
            <a:avLst/>
          </a:prstGeom>
        </p:spPr>
      </p:pic>
      <p:sp>
        <p:nvSpPr>
          <p:cNvPr id="1077" name="TextBox 1076">
            <a:extLst>
              <a:ext uri="{FF2B5EF4-FFF2-40B4-BE49-F238E27FC236}">
                <a16:creationId xmlns:a16="http://schemas.microsoft.com/office/drawing/2014/main" id="{D836439F-19EE-D584-34E8-5D2CF37B84C0}"/>
              </a:ext>
            </a:extLst>
          </p:cNvPr>
          <p:cNvSpPr txBox="1"/>
          <p:nvPr/>
        </p:nvSpPr>
        <p:spPr>
          <a:xfrm>
            <a:off x="21359023" y="40763200"/>
            <a:ext cx="2023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AWS IAM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7DECDD4F-3B0F-B277-7AB6-BA81CE37B5F1}"/>
              </a:ext>
            </a:extLst>
          </p:cNvPr>
          <p:cNvSpPr txBox="1"/>
          <p:nvPr/>
        </p:nvSpPr>
        <p:spPr>
          <a:xfrm>
            <a:off x="23827140" y="40812899"/>
            <a:ext cx="2023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CloudWatch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2F3E6E07-0330-B573-507D-E0FFA3095D00}"/>
              </a:ext>
            </a:extLst>
          </p:cNvPr>
          <p:cNvSpPr txBox="1"/>
          <p:nvPr/>
        </p:nvSpPr>
        <p:spPr>
          <a:xfrm>
            <a:off x="26484231" y="40846493"/>
            <a:ext cx="20238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Git &amp;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GitHubP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101E1700-EBA8-1DE5-64BC-0D62A10ACB56}"/>
              </a:ext>
            </a:extLst>
          </p:cNvPr>
          <p:cNvSpPr txBox="1"/>
          <p:nvPr/>
        </p:nvSpPr>
        <p:spPr>
          <a:xfrm>
            <a:off x="29200885" y="41024810"/>
            <a:ext cx="2023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VS Code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60647D-5544-DE4A-6BE1-14B7BC1FCA9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/>
        </p:blipFill>
        <p:spPr>
          <a:xfrm>
            <a:off x="12320286" y="30007999"/>
            <a:ext cx="8763285" cy="58741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3833</TotalTime>
  <Words>353</Words>
  <Application>Microsoft Office PowerPoint</Application>
  <PresentationFormat>Custom</PresentationFormat>
  <Paragraphs>96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Gill Sans MT</vt:lpstr>
      <vt:lpstr>Times New Roman</vt:lpstr>
      <vt:lpstr>Parcel</vt:lpstr>
      <vt:lpstr>PowerPoint Presentation</vt:lpstr>
    </vt:vector>
  </TitlesOfParts>
  <Company>Mechanical Engineering VT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Michael Alley</dc:creator>
  <cp:lastModifiedBy>Moavia Mahmood</cp:lastModifiedBy>
  <cp:revision>196</cp:revision>
  <cp:lastPrinted>2026-05-17T15:26:20Z</cp:lastPrinted>
  <dcterms:created xsi:type="dcterms:W3CDTF">2003-04-11T15:30:44Z</dcterms:created>
  <dcterms:modified xsi:type="dcterms:W3CDTF">2026-05-17T15:38:51Z</dcterms:modified>
</cp:coreProperties>
</file>